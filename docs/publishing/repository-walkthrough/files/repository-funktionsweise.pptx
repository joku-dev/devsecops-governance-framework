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9cc7376e82418b" /><Relationship Type="http://schemas.openxmlformats.org/officeDocument/2006/relationships/extended-properties" Target="/docProps/app.xml" Id="Red73916f17d348ad" /><Relationship Type="http://schemas.openxmlformats.org/officeDocument/2006/relationships/officeDocument" Target="/ppt/presentation.xml" Id="R607071133d03446d" /></Relationships>
</file>

<file path=ppt/presentation.xml><?xml version="1.0" encoding="utf-8"?>
<p:presentation xmlns:p="http://schemas.openxmlformats.org/presentationml/2006/main">
  <p:sldMasterIdLst>
    <p:sldMasterId xmlns:r="http://schemas.openxmlformats.org/officeDocument/2006/relationships" id="2147483648" r:id="Re5683f22de9c4996"/>
  </p:sldMasterIdLst>
  <p:notesMasterIdLst>
    <p:notesMasterId xmlns:r="http://schemas.openxmlformats.org/officeDocument/2006/relationships" r:id="R3854d7234d194e77"/>
  </p:notesMasterIdLst>
  <p:sldIdLst>
    <p:sldId xmlns:r="http://schemas.openxmlformats.org/officeDocument/2006/relationships" id="256" r:id="R9924a3b4cbd24a0d"/>
    <p:sldId xmlns:r="http://schemas.openxmlformats.org/officeDocument/2006/relationships" id="257" r:id="Rd40b591905fc4836"/>
    <p:sldId xmlns:r="http://schemas.openxmlformats.org/officeDocument/2006/relationships" id="258" r:id="R4418eb9b4a3d496d"/>
    <p:sldId xmlns:r="http://schemas.openxmlformats.org/officeDocument/2006/relationships" id="259" r:id="Rd25867ab3c034b1c"/>
    <p:sldId xmlns:r="http://schemas.openxmlformats.org/officeDocument/2006/relationships" id="260" r:id="Ra27bbb246b384adb"/>
    <p:sldId xmlns:r="http://schemas.openxmlformats.org/officeDocument/2006/relationships" id="261" r:id="R7d6714afda9748fc"/>
    <p:sldId xmlns:r="http://schemas.openxmlformats.org/officeDocument/2006/relationships" id="262" r:id="Re9c1119b127044aa"/>
    <p:sldId xmlns:r="http://schemas.openxmlformats.org/officeDocument/2006/relationships" id="263" r:id="R6a91988c235a40a7"/>
    <p:sldId xmlns:r="http://schemas.openxmlformats.org/officeDocument/2006/relationships" id="264" r:id="R2ba16b15b6c34e09"/>
    <p:sldId xmlns:r="http://schemas.openxmlformats.org/officeDocument/2006/relationships" id="265" r:id="Re04ce4f3a0b34913"/>
    <p:sldId xmlns:r="http://schemas.openxmlformats.org/officeDocument/2006/relationships" id="266" r:id="Rcc6d4664ca2a4253"/>
    <p:sldId xmlns:r="http://schemas.openxmlformats.org/officeDocument/2006/relationships" id="267" r:id="R84e48f0294f34afa"/>
    <p:sldId xmlns:r="http://schemas.openxmlformats.org/officeDocument/2006/relationships" id="268" r:id="Rc8c1ccc625fb445b"/>
    <p:sldId xmlns:r="http://schemas.openxmlformats.org/officeDocument/2006/relationships" id="269" r:id="R50265ce62c054308"/>
    <p:sldId xmlns:r="http://schemas.openxmlformats.org/officeDocument/2006/relationships" id="270" r:id="R357522b711ea40e3"/>
    <p:sldId xmlns:r="http://schemas.openxmlformats.org/officeDocument/2006/relationships" id="271" r:id="R67b73dd5dcc443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a21304ea86438e" /><Relationship Type="http://schemas.openxmlformats.org/officeDocument/2006/relationships/slideMaster" Target="/ppt/slideMasters/slideMaster1.xml" Id="Re5683f22de9c4996" /><Relationship Type="http://schemas.openxmlformats.org/officeDocument/2006/relationships/notesMaster" Target="/ppt/notesMasters/notesMaster1.xml" Id="R3854d7234d194e77" /><Relationship Type="http://schemas.openxmlformats.org/officeDocument/2006/relationships/presProps" Target="/ppt/presProps.xml" Id="R8b8e68604ca9483f" /><Relationship Type="http://schemas.openxmlformats.org/officeDocument/2006/relationships/tableStyles" Target="/ppt/tableStyles.xml" Id="Rf01dc8e1dd244f1a" /><Relationship Type="http://schemas.openxmlformats.org/officeDocument/2006/relationships/slide" Target="/ppt/slides/slide1.xml" Id="R9924a3b4cbd24a0d" /><Relationship Type="http://schemas.openxmlformats.org/officeDocument/2006/relationships/slide" Target="/ppt/slides/slide2.xml" Id="Rd40b591905fc4836" /><Relationship Type="http://schemas.openxmlformats.org/officeDocument/2006/relationships/slide" Target="/ppt/slides/slide3.xml" Id="R4418eb9b4a3d496d" /><Relationship Type="http://schemas.openxmlformats.org/officeDocument/2006/relationships/slide" Target="/ppt/slides/slide4.xml" Id="Rd25867ab3c034b1c" /><Relationship Type="http://schemas.openxmlformats.org/officeDocument/2006/relationships/slide" Target="/ppt/slides/slide5.xml" Id="Ra27bbb246b384adb" /><Relationship Type="http://schemas.openxmlformats.org/officeDocument/2006/relationships/slide" Target="/ppt/slides/slide6.xml" Id="R7d6714afda9748fc" /><Relationship Type="http://schemas.openxmlformats.org/officeDocument/2006/relationships/slide" Target="/ppt/slides/slide7.xml" Id="Re9c1119b127044aa" /><Relationship Type="http://schemas.openxmlformats.org/officeDocument/2006/relationships/slide" Target="/ppt/slides/slide8.xml" Id="R6a91988c235a40a7" /><Relationship Type="http://schemas.openxmlformats.org/officeDocument/2006/relationships/slide" Target="/ppt/slides/slide9.xml" Id="R2ba16b15b6c34e09" /><Relationship Type="http://schemas.openxmlformats.org/officeDocument/2006/relationships/slide" Target="/ppt/slides/slide10.xml" Id="Re04ce4f3a0b34913" /><Relationship Type="http://schemas.openxmlformats.org/officeDocument/2006/relationships/slide" Target="/ppt/slides/slide11.xml" Id="Rcc6d4664ca2a4253" /><Relationship Type="http://schemas.openxmlformats.org/officeDocument/2006/relationships/slide" Target="/ppt/slides/slide12.xml" Id="R84e48f0294f34afa" /><Relationship Type="http://schemas.openxmlformats.org/officeDocument/2006/relationships/slide" Target="/ppt/slides/slide13.xml" Id="Rc8c1ccc625fb445b" /><Relationship Type="http://schemas.openxmlformats.org/officeDocument/2006/relationships/slide" Target="/ppt/slides/slide14.xml" Id="R50265ce62c054308" /><Relationship Type="http://schemas.openxmlformats.org/officeDocument/2006/relationships/slide" Target="/ppt/slides/slide15.xml" Id="R357522b711ea40e3" /><Relationship Type="http://schemas.openxmlformats.org/officeDocument/2006/relationships/slide" Target="/ppt/slides/slide16.xml" Id="R67b73dd5dcc443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1311f64dfe43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d69e2e93114d79" /><Relationship Type="http://schemas.openxmlformats.org/officeDocument/2006/relationships/notesMaster" Target="/ppt/notesMasters/notesMaster1.xml" Id="Rf045b42fe48f47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d21d253c3743c6" /><Relationship Type="http://schemas.openxmlformats.org/officeDocument/2006/relationships/notesMaster" Target="/ppt/notesMasters/notesMaster1.xml" Id="R0898c20ffecc49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985bc235ec4b79" /><Relationship Type="http://schemas.openxmlformats.org/officeDocument/2006/relationships/notesMaster" Target="/ppt/notesMasters/notesMaster1.xml" Id="Rca6e35aa3e024f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8c1dd8ff7543d6" /><Relationship Type="http://schemas.openxmlformats.org/officeDocument/2006/relationships/notesMaster" Target="/ppt/notesMasters/notesMaster1.xml" Id="R8b7ac8c80d544e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b89efd6d9d4294" /><Relationship Type="http://schemas.openxmlformats.org/officeDocument/2006/relationships/notesMaster" Target="/ppt/notesMasters/notesMaster1.xml" Id="Rc5f3d716e36d42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7aa44bcb9641ae" /><Relationship Type="http://schemas.openxmlformats.org/officeDocument/2006/relationships/notesMaster" Target="/ppt/notesMasters/notesMaster1.xml" Id="R2f8f6f44b0b847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d98133afac4404" /><Relationship Type="http://schemas.openxmlformats.org/officeDocument/2006/relationships/notesMaster" Target="/ppt/notesMasters/notesMaster1.xml" Id="R6f5c8b1ce09745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c91f2696084106" /><Relationship Type="http://schemas.openxmlformats.org/officeDocument/2006/relationships/notesMaster" Target="/ppt/notesMasters/notesMaster1.xml" Id="Rfedb2e059f9a40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3519408dc74ca0" /><Relationship Type="http://schemas.openxmlformats.org/officeDocument/2006/relationships/notesMaster" Target="/ppt/notesMasters/notesMaster1.xml" Id="Rdaef70fb173a4a0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b95e6706154c83" /><Relationship Type="http://schemas.openxmlformats.org/officeDocument/2006/relationships/notesMaster" Target="/ppt/notesMasters/notesMaster1.xml" Id="R5754d1959ca041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035b841e0634fc6" /><Relationship Type="http://schemas.openxmlformats.org/officeDocument/2006/relationships/notesMaster" Target="/ppt/notesMasters/notesMaster1.xml" Id="R1d570ef074e948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b99e7c847b4dd9" /><Relationship Type="http://schemas.openxmlformats.org/officeDocument/2006/relationships/notesMaster" Target="/ppt/notesMasters/notesMaster1.xml" Id="R7d79f1e26c4c48e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554f5b94cc042ea" /><Relationship Type="http://schemas.openxmlformats.org/officeDocument/2006/relationships/notesMaster" Target="/ppt/notesMasters/notesMaster1.xml" Id="Rea390faf8589435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3bb4cd13cf14ba5" /><Relationship Type="http://schemas.openxmlformats.org/officeDocument/2006/relationships/notesMaster" Target="/ppt/notesMasters/notesMaster1.xml" Id="R6a13b3c5d1f241d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354547889d442ed" /><Relationship Type="http://schemas.openxmlformats.org/officeDocument/2006/relationships/notesMaster" Target="/ppt/notesMasters/notesMaster1.xml" Id="Rb7e0b5156f1c476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049013c5fa24df8" /><Relationship Type="http://schemas.openxmlformats.org/officeDocument/2006/relationships/notesMaster" Target="/ppt/notesMasters/notesMaster1.xml" Id="R878d1b3fc4fd41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Präsentation erklärt den technischen Ablauf in verständlicher Form. Sie richtet sich an Führungskräfte und technische Verantwortliche. Die Darstellung beschreibt den festgehaltenen Repository-Stand, keinen neuen Anwendungslauf. Für den Vortrag sind etwa 20 Minuten vorgesehen.</a:t>
            </a:r>
          </a:p>
          <a:p xmlns:a="http://schemas.openxmlformats.org/drawingml/2006/main">
            <a:r>
              <a:t/>
            </a:r>
          </a:p>
          <a:p xmlns:a="http://schemas.openxmlformats.org/drawingml/2006/main">
            <a:r>
              <a:t>Quellstand: 4abe88294f299d7f801c74ff0161df234960c092</a:t>
            </a:r>
          </a:p>
          <a:p xmlns:a="http://schemas.openxmlformats.org/drawingml/2006/main">
            <a:r>
              <a:t>[1] Referenzarchitektur</a:t>
            </a:r>
          </a:p>
          <a:p xmlns:a="http://schemas.openxmlformats.org/drawingml/2006/main">
            <a:r>
              <a:t>https://github.com/joku-dev/devsecops-governance-framework/blob/4abe88294f299d7f801c74ff0161df234960c092/docs/foundation/04_REFERENCE_ARCHITECTURE.md</a:t>
            </a:r>
          </a:p>
          <a:p xmlns:a="http://schemas.openxmlformats.org/drawingml/2006/main">
            <a:r>
              <a:t/>
            </a:r>
          </a:p>
          <a:p xmlns:a="http://schemas.openxmlformats.org/drawingml/2006/main">
            <a:r>
              <a:t>[13] Demo mit historischen Referenzläufen</a:t>
            </a:r>
          </a:p>
          <a:p xmlns:a="http://schemas.openxmlformats.org/drawingml/2006/main">
            <a:r>
              <a:t>https://github.com/joku-dev/devsecops-governance-framework/blob/4abe88294f299d7f801c74ff0161df234960c092/docs/demos/demo-end-to-end-governance.md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vier Ebenen entsprechen Governance Intent, Governance Model, Governance Runtime und Governance Intelligence. Die Übersetzung einer Quelle in eine Regel verlangt fachliche Arbeit und Review. Das Repository behauptet keine vollautomatische semantische Ableitung aus Dokumenten. Die zentrale Übersicht unterstützt weitere Entscheidungen und Verbesserungen.</a:t>
            </a:r>
          </a:p>
          <a:p xmlns:a="http://schemas.openxmlformats.org/drawingml/2006/main">
            <a:r>
              <a:t/>
            </a:r>
          </a:p>
          <a:p xmlns:a="http://schemas.openxmlformats.org/drawingml/2006/main">
            <a:r>
              <a:t>Quellstand: 4abe88294f299d7f801c74ff0161df234960c092</a:t>
            </a:r>
          </a:p>
          <a:p xmlns:a="http://schemas.openxmlformats.org/drawingml/2006/main">
            <a:r>
              <a:t>[1] Referenzarchitektur</a:t>
            </a:r>
          </a:p>
          <a:p xmlns:a="http://schemas.openxmlformats.org/drawingml/2006/main">
            <a:r>
              <a:t>https://github.com/joku-dev/devsecops-governance-framework/blob/4abe88294f299d7f801c74ff0161df234960c092/docs/foundation/04_REFERENCE_ARCHITECTURE.md</a:t>
            </a:r>
          </a:p>
          <a:p xmlns:a="http://schemas.openxmlformats.org/drawingml/2006/main">
            <a:r>
              <a:t/>
            </a:r>
          </a:p>
          <a:p xmlns:a="http://schemas.openxmlformats.org/drawingml/2006/main">
            <a:r>
              <a:t>[2] Governance Change Lifecycle</a:t>
            </a:r>
          </a:p>
          <a:p xmlns:a="http://schemas.openxmlformats.org/drawingml/2006/main">
            <a:r>
              <a:t>https://github.com/joku-dev/devsecops-governance-framework/blob/4abe88294f299d7f801c74ff0161df234960c092/docs/governance/governance-change-lifecycle.md</a:t>
            </a:r>
          </a:p>
          <a:p xmlns:a="http://schemas.openxmlformats.org/drawingml/2006/main">
            <a:r>
              <a:t/>
            </a:r>
          </a:p>
          <a:p xmlns:a="http://schemas.openxmlformats.org/drawingml/2006/main">
            <a:r>
              <a:t>[6] Result Intake und Viewer</a:t>
            </a:r>
          </a:p>
          <a:p xmlns:a="http://schemas.openxmlformats.org/drawingml/2006/main">
            <a:r>
              <a:t>https://github.com/joku-dev/devsecops-governance-framework/blob/4abe88294f299d7f801c74ff0161df234960c092/docs/operations/evidence/governance-result-intake-and-viewer-usage.md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aktuelle Referenz besteht aus joku-dev/devsecops-governance-framework und joku-dev/ha-CPsWMS. Wiederverwendbare Workflows verbinden beide. Große Laufartefakte bleiben im jeweiligen Artefaktspeicher. Zentral liegen normalisierte Ergebnissnapshots und deren Kontext. Plattformunabhängigkeit ist ein Architekturziel, GitHub Actions ist die gezeigte Integration.</a:t>
            </a:r>
          </a:p>
          <a:p xmlns:a="http://schemas.openxmlformats.org/drawingml/2006/main">
            <a:r>
              <a:t/>
            </a:r>
          </a:p>
          <a:p xmlns:a="http://schemas.openxmlformats.org/drawingml/2006/main">
            <a:r>
              <a:t>Quellstand: 4abe88294f299d7f801c74ff0161df234960c092</a:t>
            </a:r>
          </a:p>
          <a:p xmlns:a="http://schemas.openxmlformats.org/drawingml/2006/main">
            <a:r>
              <a:t>[1] Referenzarchitektur</a:t>
            </a:r>
          </a:p>
          <a:p xmlns:a="http://schemas.openxmlformats.org/drawingml/2006/main">
            <a:r>
              <a:t>https://github.com/joku-dev/devsecops-governance-framework/blob/4abe88294f299d7f801c74ff0161df234960c092/docs/foundation/04_REFERENCE_ARCHITECTURE.md</a:t>
            </a:r>
          </a:p>
          <a:p xmlns:a="http://schemas.openxmlformats.org/drawingml/2006/main">
            <a:r>
              <a:t/>
            </a:r>
          </a:p>
          <a:p xmlns:a="http://schemas.openxmlformats.org/drawingml/2006/main">
            <a:r>
              <a:t>[6] Result Intake und Viewer</a:t>
            </a:r>
          </a:p>
          <a:p xmlns:a="http://schemas.openxmlformats.org/drawingml/2006/main">
            <a:r>
              <a:t>https://github.com/joku-dev/devsecops-governance-framework/blob/4abe88294f299d7f801c74ff0161df234960c092/docs/operations/evidence/governance-result-intake-and-viewer-usage.md</a:t>
            </a:r>
          </a:p>
          <a:p xmlns:a="http://schemas.openxmlformats.org/drawingml/2006/main">
            <a:r>
              <a:t/>
            </a:r>
          </a:p>
          <a:p xmlns:a="http://schemas.openxmlformats.org/drawingml/2006/main">
            <a:r>
              <a:t>[13] Demo mit historischen Referenzläufen</a:t>
            </a:r>
          </a:p>
          <a:p xmlns:a="http://schemas.openxmlformats.org/drawingml/2006/main">
            <a:r>
              <a:t>https://github.com/joku-dev/devsecops-governance-framework/blob/4abe88294f299d7f801c74ff0161df234960c092/docs/demos/demo-end-to-end-governance.md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Übersicht ist eine Orientierung für den Repository-Rundgang. Generated-Dateien entstehen normalerweise durch Generatoren. Status-Snapshots entstehen durch Intake. Veröffentlichte Release-Pakete bleiben als Referenz erhalten. Eine manuelle Änderung am Viewer ist kein neuer Anwendungsnachweis.</a:t>
            </a:r>
          </a:p>
          <a:p xmlns:a="http://schemas.openxmlformats.org/drawingml/2006/main">
            <a:r>
              <a:t/>
            </a:r>
          </a:p>
          <a:p xmlns:a="http://schemas.openxmlformats.org/drawingml/2006/main">
            <a:r>
              <a:t>Quellstand: 4abe88294f299d7f801c74ff0161df234960c092</a:t>
            </a:r>
          </a:p>
          <a:p xmlns:a="http://schemas.openxmlformats.org/drawingml/2006/main">
            <a:r>
              <a:t>[1] Referenzarchitektur</a:t>
            </a:r>
          </a:p>
          <a:p xmlns:a="http://schemas.openxmlformats.org/drawingml/2006/main">
            <a:r>
              <a:t>https://github.com/joku-dev/devsecops-governance-framework/blob/4abe88294f299d7f801c74ff0161df234960c092/docs/foundation/04_REFERENCE_ARCHITECTURE.md</a:t>
            </a:r>
          </a:p>
          <a:p xmlns:a="http://schemas.openxmlformats.org/drawingml/2006/main">
            <a:r>
              <a:t/>
            </a:r>
          </a:p>
          <a:p xmlns:a="http://schemas.openxmlformats.org/drawingml/2006/main">
            <a:r>
              <a:t>[2] Governance Change Lifecycle</a:t>
            </a:r>
          </a:p>
          <a:p xmlns:a="http://schemas.openxmlformats.org/drawingml/2006/main">
            <a:r>
              <a:t>https://github.com/joku-dev/devsecops-governance-framework/blob/4abe88294f299d7f801c74ff0161df234960c092/docs/governance/governance-change-lifecycle.md</a:t>
            </a:r>
          </a:p>
          <a:p xmlns:a="http://schemas.openxmlformats.org/drawingml/2006/main">
            <a:r>
              <a:t/>
            </a:r>
          </a:p>
          <a:p xmlns:a="http://schemas.openxmlformats.org/drawingml/2006/main">
            <a:r>
              <a:t>[6] Result Intake und Viewer</a:t>
            </a:r>
          </a:p>
          <a:p xmlns:a="http://schemas.openxmlformats.org/drawingml/2006/main">
            <a:r>
              <a:t>https://github.com/joku-dev/devsecops-governance-framework/blob/4abe88294f299d7f801c74ff0161df234960c092/docs/operations/evidence/governance-result-intake-and-viewer-usage.md</a:t>
            </a:r>
          </a:p>
          <a:p xmlns:a="http://schemas.openxmlformats.org/drawingml/2006/main">
            <a:r>
              <a:t/>
            </a:r>
          </a:p>
          <a:p xmlns:a="http://schemas.openxmlformats.org/drawingml/2006/main">
            <a:r>
              <a:t>[9] DevSecOps Baseline</a:t>
            </a:r>
          </a:p>
          <a:p xmlns:a="http://schemas.openxmlformats.org/drawingml/2006/main">
            <a:r>
              <a:t>https://github.com/joku-dev/devsecops-governance-framework/blob/4abe88294f299d7f801c74ff0161df234960c092/releases/l1/v1.1.3/baseline-package.md</a:t>
            </a:r>
          </a:p>
          <a:p xmlns:a="http://schemas.openxmlformats.org/drawingml/2006/main">
            <a:r>
              <a:t/>
            </a:r>
          </a:p>
          <a:p xmlns:a="http://schemas.openxmlformats.org/drawingml/2006/main">
            <a:r>
              <a:t>[10] Architecture Baseline</a:t>
            </a:r>
          </a:p>
          <a:p xmlns:a="http://schemas.openxmlformats.org/drawingml/2006/main">
            <a:r>
              <a:t>https://github.com/joku-dev/devsecops-governance-framework/blob/4abe88294f299d7f801c74ff0161df234960c092/releases/architecture/l1/v0.1.0/baseline-package.md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Status candidate hält neue oder möglicherweise ersetzende Quellen von einer ungeprüften Ableitung fern. Die Source-Lineage verknüpft Quellen mit abgeleiteten Artefakten. Generierte Impact- und Delta-Berichte unterstützen Menschen. Sie genehmigen keine Quelle und ändern keine Policy selbstständig. Das öffentliche Repository enthält auch Platzhalter für zurückgehaltene Originalquellen.</a:t>
            </a:r>
          </a:p>
          <a:p xmlns:a="http://schemas.openxmlformats.org/drawingml/2006/main">
            <a:r>
              <a:t/>
            </a:r>
          </a:p>
          <a:p xmlns:a="http://schemas.openxmlformats.org/drawingml/2006/main">
            <a:r>
              <a:t>Quellstand: 4abe88294f299d7f801c74ff0161df234960c092</a:t>
            </a:r>
          </a:p>
          <a:p xmlns:a="http://schemas.openxmlformats.org/drawingml/2006/main">
            <a:r>
              <a:t>[2] Governance Change Lifecycle</a:t>
            </a:r>
          </a:p>
          <a:p xmlns:a="http://schemas.openxmlformats.org/drawingml/2006/main">
            <a:r>
              <a:t>https://github.com/joku-dev/devsecops-governance-framework/blob/4abe88294f299d7f801c74ff0161df234960c092/docs/governance/governance-change-lifecycle.md</a:t>
            </a:r>
          </a:p>
          <a:p xmlns:a="http://schemas.openxmlformats.org/drawingml/2006/main">
            <a:r>
              <a:t/>
            </a:r>
          </a:p>
          <a:p xmlns:a="http://schemas.openxmlformats.org/drawingml/2006/main">
            <a:r>
              <a:t>[13] Demo mit historischen Referenzläufen</a:t>
            </a:r>
          </a:p>
          <a:p xmlns:a="http://schemas.openxmlformats.org/drawingml/2006/main">
            <a:r>
              <a:t>https://github.com/joku-dev/devsecops-governance-framework/blob/4abe88294f299d7f801c74ff0161df234960c092/docs/demos/demo-end-to-end-governance.md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SBOM bedeutet Software Bill of Materials. Im L1-Katalog ist die Anforderung DSCB-L1-REQ-006 mit der Policy policies/opa/sbom_required.rego verbunden. Das Beispiel illustriert eine konkret implementierte Teilprüfung. Die Policy prüft die übergebenen Angaben und beweist allein weder die Vollständigkeit der Komponentenliste noch ihre unabhängige Herkunft.</a:t>
            </a:r>
          </a:p>
          <a:p xmlns:a="http://schemas.openxmlformats.org/drawingml/2006/main">
            <a:r>
              <a:t/>
            </a:r>
          </a:p>
          <a:p xmlns:a="http://schemas.openxmlformats.org/drawingml/2006/main">
            <a:r>
              <a:t>Quellstand: 4abe88294f299d7f801c74ff0161df234960c092</a:t>
            </a:r>
          </a:p>
          <a:p xmlns:a="http://schemas.openxmlformats.org/drawingml/2006/main">
            <a:r>
              <a:t>[3] DevSecOps L1 Controls</a:t>
            </a:r>
          </a:p>
          <a:p xmlns:a="http://schemas.openxmlformats.org/drawingml/2006/main">
            <a:r>
              <a:t>https://github.com/joku-dev/devsecops-governance-framework/blob/4abe88294f299d7f801c74ff0161df234960c092/model/controls/dscb-l1.yaml</a:t>
            </a:r>
          </a:p>
          <a:p xmlns:a="http://schemas.openxmlformats.org/drawingml/2006/main">
            <a:r>
              <a:t/>
            </a:r>
          </a:p>
          <a:p xmlns:a="http://schemas.openxmlformats.org/drawingml/2006/main">
            <a:r>
              <a:t>[4] SBOM Policy</a:t>
            </a:r>
          </a:p>
          <a:p xmlns:a="http://schemas.openxmlformats.org/drawingml/2006/main">
            <a:r>
              <a:t>https://github.com/joku-dev/devsecops-governance-framework/blob/4abe88294f299d7f801c74ff0161df234960c092/policies/opa/sbom_required.rego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der Policy erzeugt deny eine Meldung, wenn input.evidence.sbom.exists fehlt oder falsch ist. Wenn exists wahr ist, linked_to_artifact aber fehlt oder falsch ist, entsteht eine andere Meldung. Sind beide Werte wahr, erzeugt diese einzelne Policy keinen SBOM-Befund. Das bedeutet nicht, dass alle anderen Kontrollen bestanden sind. Die Beispiele zeigen die tatsächliche Logik, keine neuen Live-Ergebnisse.</a:t>
            </a:r>
          </a:p>
          <a:p xmlns:a="http://schemas.openxmlformats.org/drawingml/2006/main">
            <a:r>
              <a:t/>
            </a:r>
          </a:p>
          <a:p xmlns:a="http://schemas.openxmlformats.org/drawingml/2006/main">
            <a:r>
              <a:t>Quellstand: 4abe88294f299d7f801c74ff0161df234960c092</a:t>
            </a:r>
          </a:p>
          <a:p xmlns:a="http://schemas.openxmlformats.org/drawingml/2006/main">
            <a:r>
              <a:t>[4] SBOM Policy</a:t>
            </a:r>
          </a:p>
          <a:p xmlns:a="http://schemas.openxmlformats.org/drawingml/2006/main">
            <a:r>
              <a:t>https://github.com/joku-dev/devsecops-governance-framework/blob/4abe88294f299d7f801c74ff0161df234960c092/policies/opa/sbom_required.rego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Beide Baselines sind am betrachteten Stand veröffentlicht. Release-Pakete enthalten identifizierbare Modelle, Regeln, Schemas und Metadaten. Tag oder festgelegter Commit verbindet einen Anwendungslauf mit seinem Prüfstand. Eine neue Governance-Version verlangt eine bewusste Übernahme beim Consumer. Die Contract-Version 1.0 beschreibt dagegen die Datenstruktur des DevSecOps-Eingangs und ist keine Baseline-Version.</a:t>
            </a:r>
          </a:p>
          <a:p xmlns:a="http://schemas.openxmlformats.org/drawingml/2006/main">
            <a:r>
              <a:t/>
            </a:r>
          </a:p>
          <a:p xmlns:a="http://schemas.openxmlformats.org/drawingml/2006/main">
            <a:r>
              <a:t>Quellstand: 4abe88294f299d7f801c74ff0161df234960c092</a:t>
            </a:r>
          </a:p>
          <a:p xmlns:a="http://schemas.openxmlformats.org/drawingml/2006/main">
            <a:r>
              <a:t>[5] Evidence Contract</a:t>
            </a:r>
          </a:p>
          <a:p xmlns:a="http://schemas.openxmlformats.org/drawingml/2006/main">
            <a:r>
              <a:t>https://github.com/joku-dev/devsecops-governance-framework/blob/4abe88294f299d7f801c74ff0161df234960c092/docs/operations/evidence/governance-evidence-contract.md</a:t>
            </a:r>
          </a:p>
          <a:p xmlns:a="http://schemas.openxmlformats.org/drawingml/2006/main">
            <a:r>
              <a:t/>
            </a:r>
          </a:p>
          <a:p xmlns:a="http://schemas.openxmlformats.org/drawingml/2006/main">
            <a:r>
              <a:t>[9] DevSecOps Baseline</a:t>
            </a:r>
          </a:p>
          <a:p xmlns:a="http://schemas.openxmlformats.org/drawingml/2006/main">
            <a:r>
              <a:t>https://github.com/joku-dev/devsecops-governance-framework/blob/4abe88294f299d7f801c74ff0161df234960c092/releases/l1/v1.1.3/baseline-package.md</a:t>
            </a:r>
          </a:p>
          <a:p xmlns:a="http://schemas.openxmlformats.org/drawingml/2006/main">
            <a:r>
              <a:t/>
            </a:r>
          </a:p>
          <a:p xmlns:a="http://schemas.openxmlformats.org/drawingml/2006/main">
            <a:r>
              <a:t>[10] Architecture Baseline</a:t>
            </a:r>
          </a:p>
          <a:p xmlns:a="http://schemas.openxmlformats.org/drawingml/2006/main">
            <a:r>
              <a:t>https://github.com/joku-dev/devsecops-governance-framework/blob/4abe88294f299d7f801c74ff0161df234960c092/releases/architecture/l1/v0.1.0/baseline-package.md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Workflow architecture-baseline-l1-v0.1.0.yml checkt application und governance getrennt aus. Der Governance-Checkout verwendet den Baseline-Tag. collect_architecture_release_input.py sammelt den Eingang. Eine JSON-Schema-Prüfung validiert seine Struktur. generate_architecture_governance_report.py erzeugt JSON und Markdown. Das Artefakt heißt architecture-governance-evidence. fail_on_findings steuert gesondert den Abbruch bei Befunden.</a:t>
            </a:r>
          </a:p>
          <a:p xmlns:a="http://schemas.openxmlformats.org/drawingml/2006/main">
            <a:r>
              <a:t/>
            </a:r>
          </a:p>
          <a:p xmlns:a="http://schemas.openxmlformats.org/drawingml/2006/main">
            <a:r>
              <a:t>Quellstand: 4abe88294f299d7f801c74ff0161df234960c092</a:t>
            </a:r>
          </a:p>
          <a:p xmlns:a="http://schemas.openxmlformats.org/drawingml/2006/main">
            <a:r>
              <a:t>[7] Architektur-Workflow</a:t>
            </a:r>
          </a:p>
          <a:p xmlns:a="http://schemas.openxmlformats.org/drawingml/2006/main">
            <a:r>
              <a:t>https://github.com/joku-dev/devsecops-governance-framework/blob/4abe88294f299d7f801c74ff0161df234960c092/.github/workflows/architecture-baseline-l1-v0.1.0.yml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DevSecOps kontrolliert Aspekte des Lieferprozesses. Das Architekturmodell beschreibt Marker, erwartete Nachweise und Review-Gates. Die vier Gate-Namen sind im Modell hinterlegt. Automatische Befunde unterstützen die fachliche Entscheidung. Ein grüner Workflow-Lauf ist keine allgemeine Produktionsfreigabe. Die konkrete Abdeckung hängt von Baseline und verfügbaren Nachweisen ab.</a:t>
            </a:r>
          </a:p>
          <a:p xmlns:a="http://schemas.openxmlformats.org/drawingml/2006/main">
            <a:r>
              <a:t/>
            </a:r>
          </a:p>
          <a:p xmlns:a="http://schemas.openxmlformats.org/drawingml/2006/main">
            <a:r>
              <a:t>Quellstand: 4abe88294f299d7f801c74ff0161df234960c092</a:t>
            </a:r>
          </a:p>
          <a:p xmlns:a="http://schemas.openxmlformats.org/drawingml/2006/main">
            <a:r>
              <a:t>[3] DevSecOps L1 Controls</a:t>
            </a:r>
          </a:p>
          <a:p xmlns:a="http://schemas.openxmlformats.org/drawingml/2006/main">
            <a:r>
              <a:t>https://github.com/joku-dev/devsecops-governance-framework/blob/4abe88294f299d7f801c74ff0161df234960c092/model/controls/dscb-l1.yaml</a:t>
            </a:r>
          </a:p>
          <a:p xmlns:a="http://schemas.openxmlformats.org/drawingml/2006/main">
            <a:r>
              <a:t/>
            </a:r>
          </a:p>
          <a:p xmlns:a="http://schemas.openxmlformats.org/drawingml/2006/main">
            <a:r>
              <a:t>[8] Architecture Review Gates</a:t>
            </a:r>
          </a:p>
          <a:p xmlns:a="http://schemas.openxmlformats.org/drawingml/2006/main">
            <a:r>
              <a:t>https://github.com/joku-dev/devsecops-governance-framework/blob/4abe88294f299d7f801c74ff0161df234960c092/architecture/review-gates.yaml</a:t>
            </a:r>
          </a:p>
          <a:p xmlns:a="http://schemas.openxmlformats.org/drawingml/2006/main">
            <a:r>
              <a:t/>
            </a:r>
          </a:p>
          <a:p xmlns:a="http://schemas.openxmlformats.org/drawingml/2006/main">
            <a:r>
              <a:t>[13] Demo mit historischen Referenzläufen</a:t>
            </a:r>
          </a:p>
          <a:p xmlns:a="http://schemas.openxmlformats.org/drawingml/2006/main">
            <a:r>
              <a:t>https://github.com/joku-dev/devsecops-governance-framework/blob/4abe88294f299d7f801c74ff0161df234960c092/docs/demos/demo-end-to-end-governance.md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aktuelle GitHub-Integration verwendet repository_dispatch oder workflow_dispatch. Intake normalisiert den Laufkontext und dokumentiert die Übernahme. publish_operational_update.py beschränkt Änderungen auf den erlaubten Umfang. Der Bot eröffnet PRs, genehmigt oder merged sie aber nicht. Bei parallelen PRs müssen Konflikte unter Erhalt aller angenommenen Datensätze aufgelöst und Projektionen neu erzeugt werden. Ein erfolgreicher Consumer-Lauf allein aktualisiert daher noch nicht die veröffentlichte Übersicht.</a:t>
            </a:r>
          </a:p>
          <a:p xmlns:a="http://schemas.openxmlformats.org/drawingml/2006/main">
            <a:r>
              <a:t/>
            </a:r>
          </a:p>
          <a:p xmlns:a="http://schemas.openxmlformats.org/drawingml/2006/main">
            <a:r>
              <a:t>Quellstand: 4abe88294f299d7f801c74ff0161df234960c092</a:t>
            </a:r>
          </a:p>
          <a:p xmlns:a="http://schemas.openxmlformats.org/drawingml/2006/main">
            <a:r>
              <a:t>[6] Result Intake und Viewer</a:t>
            </a:r>
          </a:p>
          <a:p xmlns:a="http://schemas.openxmlformats.org/drawingml/2006/main">
            <a:r>
              <a:t>https://github.com/joku-dev/devsecops-governance-framework/blob/4abe88294f299d7f801c74ff0161df234960c092/docs/operations/evidence/governance-result-intake-and-viewer-usage.md</a:t>
            </a:r>
          </a:p>
          <a:p xmlns:a="http://schemas.openxmlformats.org/drawingml/2006/main">
            <a:r>
              <a:t/>
            </a:r>
          </a:p>
          <a:p xmlns:a="http://schemas.openxmlformats.org/drawingml/2006/main">
            <a:r>
              <a:t>[11] Intake Workflow</a:t>
            </a:r>
          </a:p>
          <a:p xmlns:a="http://schemas.openxmlformats.org/drawingml/2006/main">
            <a:r>
              <a:t>https://github.com/joku-dev/devsecops-governance-framework/blob/4abe88294f299d7f801c74ff0161df234960c092/.github/workflows/intake-governance-result.yml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Append-only bedeutet: Ein existierender Ergebnissnapshot wird nicht durch einen anderen Inhalt überschrieben. Konflikte liegen unter status/intake-conflicts/. Result-Indizes und Viewer sind abgeleitete Projektionen. latest_result bevorzugt den letzten main-push-Lauf, wenn ein solcher vorhanden ist. Branch-, PR- und manuelle Ergebnisse bleiben als Historie sichtbar und verdrängen diesen offiziellen Zustand nicht. Eine zusätzliche Datenbank ist für diesen Mechanismus nicht erforderlich.</a:t>
            </a:r>
          </a:p>
          <a:p xmlns:a="http://schemas.openxmlformats.org/drawingml/2006/main">
            <a:r>
              <a:t/>
            </a:r>
          </a:p>
          <a:p xmlns:a="http://schemas.openxmlformats.org/drawingml/2006/main">
            <a:r>
              <a:t>Quellstand: 4abe88294f299d7f801c74ff0161df234960c092</a:t>
            </a:r>
          </a:p>
          <a:p xmlns:a="http://schemas.openxmlformats.org/drawingml/2006/main">
            <a:r>
              <a:t>[6] Result Intake und Viewer</a:t>
            </a:r>
          </a:p>
          <a:p xmlns:a="http://schemas.openxmlformats.org/drawingml/2006/main">
            <a:r>
              <a:t>https://github.com/joku-dev/devsecops-governance-framework/blob/4abe88294f299d7f801c74ff0161df234960c092/docs/operations/evidence/governance-result-intake-and-viewer-usage.md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Unterscheidung verhindert eine falsche Interpretation grüner Statusanzeigen. Evidence Trust untersucht unter anderem Integrität, Herkunftsbindung, Aktualität und Replay-Kontext. Ein Hash-Vergleich beweist allein keine inhaltliche Wahrheit. Historische Snapshots können unverified bleiben. Trust und Replay-Triage sind report-only und ändern weder Governance-Ergebnis noch latest_result-Auswahl.</a:t>
            </a:r>
          </a:p>
          <a:p xmlns:a="http://schemas.openxmlformats.org/drawingml/2006/main">
            <a:r>
              <a:t/>
            </a:r>
          </a:p>
          <a:p xmlns:a="http://schemas.openxmlformats.org/drawingml/2006/main">
            <a:r>
              <a:t>Quellstand: 4abe88294f299d7f801c74ff0161df234960c092</a:t>
            </a:r>
          </a:p>
          <a:p xmlns:a="http://schemas.openxmlformats.org/drawingml/2006/main">
            <a:r>
              <a:t>[5] Evidence Contract</a:t>
            </a:r>
          </a:p>
          <a:p xmlns:a="http://schemas.openxmlformats.org/drawingml/2006/main">
            <a:r>
              <a:t>https://github.com/joku-dev/devsecops-governance-framework/blob/4abe88294f299d7f801c74ff0161df234960c092/docs/operations/evidence/governance-evidence-contract.md</a:t>
            </a:r>
          </a:p>
          <a:p xmlns:a="http://schemas.openxmlformats.org/drawingml/2006/main">
            <a:r>
              <a:t/>
            </a:r>
          </a:p>
          <a:p xmlns:a="http://schemas.openxmlformats.org/drawingml/2006/main">
            <a:r>
              <a:t>[6] Result Intake und Viewer</a:t>
            </a:r>
          </a:p>
          <a:p xmlns:a="http://schemas.openxmlformats.org/drawingml/2006/main">
            <a:r>
              <a:t>https://github.com/joku-dev/devsecops-governance-framework/blob/4abe88294f299d7f801c74ff0161df234960c092/docs/operations/evidence/governance-result-intake-and-viewer-usage.md</a:t>
            </a:r>
          </a:p>
          <a:p xmlns:a="http://schemas.openxmlformats.org/drawingml/2006/main">
            <a:r>
              <a:t/>
            </a:r>
          </a:p>
          <a:p xmlns:a="http://schemas.openxmlformats.org/drawingml/2006/main">
            <a:r>
              <a:t>[14] Evidence Trust</a:t>
            </a:r>
          </a:p>
          <a:p xmlns:a="http://schemas.openxmlformats.org/drawingml/2006/main">
            <a:r>
              <a:t>https://github.com/joku-dev/devsecops-governance-framework/blob/4abe88294f299d7f801c74ff0161df234960c092/docs/operations/evidence/evidence-trust-model.md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Neue Piloten wählen report-only ausdrücklich für alle Trigger. Der wiederverwendbare DevSecOps-Workflow hat dagegen den Default block-on-error. Der Architektur-Wrapper verwendet fail_on_findings=false als Default. Deshalb muss jede konkrete Consumer-Konfiguration geprüft werden. Für ha-CPsWMS besteht ein älteres DevSecOps-Blocking als befristetes Bestandsrisiko mit Überprüfung bis 12. Dezember 2026. Neue verbindliche Gates verlangen Reifeprüfung und Freigabe.</a:t>
            </a:r>
          </a:p>
          <a:p xmlns:a="http://schemas.openxmlformats.org/drawingml/2006/main">
            <a:r>
              <a:t/>
            </a:r>
          </a:p>
          <a:p xmlns:a="http://schemas.openxmlformats.org/drawingml/2006/main">
            <a:r>
              <a:t>Quellstand: 4abe88294f299d7f801c74ff0161df234960c092</a:t>
            </a:r>
          </a:p>
          <a:p xmlns:a="http://schemas.openxmlformats.org/drawingml/2006/main">
            <a:r>
              <a:t>[7] Architektur-Workflow</a:t>
            </a:r>
          </a:p>
          <a:p xmlns:a="http://schemas.openxmlformats.org/drawingml/2006/main">
            <a:r>
              <a:t>https://github.com/joku-dev/devsecops-governance-framework/blob/4abe88294f299d7f801c74ff0161df234960c092/.github/workflows/architecture-baseline-l1-v0.1.0.yml</a:t>
            </a:r>
          </a:p>
          <a:p xmlns:a="http://schemas.openxmlformats.org/drawingml/2006/main">
            <a:r>
              <a:t/>
            </a:r>
          </a:p>
          <a:p xmlns:a="http://schemas.openxmlformats.org/drawingml/2006/main">
            <a:r>
              <a:t>[12] Betriebshandbuch</a:t>
            </a:r>
          </a:p>
          <a:p xmlns:a="http://schemas.openxmlformats.org/drawingml/2006/main">
            <a:r>
              <a:t>https://github.com/joku-dev/devsecops-governance-framework/blob/4abe88294f299d7f801c74ff0161df234960c092/docs/operations/guides/governance-repository-operations-handbook.md</a:t>
            </a:r>
          </a:p>
          <a:p xmlns:a="http://schemas.openxmlformats.org/drawingml/2006/main">
            <a:r>
              <a:t/>
            </a:r>
          </a:p>
          <a:p xmlns:a="http://schemas.openxmlformats.org/drawingml/2006/main">
            <a:r>
              <a:t>[13] Demo mit historischen Referenzläufen</a:t>
            </a:r>
          </a:p>
          <a:p xmlns:a="http://schemas.openxmlformats.org/drawingml/2006/main">
            <a:r>
              <a:t>https://github.com/joku-dev/devsecops-governance-framework/blob/4abe88294f299d7f801c74ff0161df234960c092/docs/demos/demo-end-to-end-governance.md</a:t>
            </a:r>
          </a:p>
          <a:p xmlns:a="http://schemas.openxmlformats.org/drawingml/2006/main">
            <a:r>
              <a:t/>
            </a:r>
          </a:p>
          <a:p xmlns:a="http://schemas.openxmlformats.org/drawingml/2006/main">
            <a:r>
              <a:t>[16] DevSecOps Workflow</a:t>
            </a:r>
          </a:p>
          <a:p xmlns:a="http://schemas.openxmlformats.org/drawingml/2006/main">
            <a:r>
              <a:t>https://github.com/joku-dev/devsecops-governance-framework/blob/4abe88294f299d7f801c74ff0161df234960c092/.github/workflows/devsecops-baseline-reusable.yml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Collection Attempts ersetzen keine erfolgreichen Nachweise. Ein später erfolgreicher passender Snapshot kann den Lebenszyklus als resolved darstellen, ohne den alten Datensatz zu verändern. Automatische Retries sind nicht aktiviert. Intake Events erfassen auch erfolgreiche Ausführungen und speisen die Intake-Health-Projektion. Der tägliche Bericht läuft um 06:43 UTC. Er verschickt selbst keine Warnungen und erstellt keine Aufgaben. Publikationsfehler müssen in Actions untersucht werden, ungemergte Datensätze sind noch kein angenommener main-Stand.</a:t>
            </a:r>
          </a:p>
          <a:p xmlns:a="http://schemas.openxmlformats.org/drawingml/2006/main">
            <a:r>
              <a:t/>
            </a:r>
          </a:p>
          <a:p xmlns:a="http://schemas.openxmlformats.org/drawingml/2006/main">
            <a:r>
              <a:t>Quellstand: 4abe88294f299d7f801c74ff0161df234960c092</a:t>
            </a:r>
          </a:p>
          <a:p xmlns:a="http://schemas.openxmlformats.org/drawingml/2006/main">
            <a:r>
              <a:t>[6] Result Intake und Viewer</a:t>
            </a:r>
          </a:p>
          <a:p xmlns:a="http://schemas.openxmlformats.org/drawingml/2006/main">
            <a:r>
              <a:t>https://github.com/joku-dev/devsecops-governance-framework/blob/4abe88294f299d7f801c74ff0161df234960c092/docs/operations/evidence/governance-result-intake-and-viewer-usage.md</a:t>
            </a:r>
          </a:p>
          <a:p xmlns:a="http://schemas.openxmlformats.org/drawingml/2006/main">
            <a:r>
              <a:t/>
            </a:r>
          </a:p>
          <a:p xmlns:a="http://schemas.openxmlformats.org/drawingml/2006/main">
            <a:r>
              <a:t>[11] Intake Workflow</a:t>
            </a:r>
          </a:p>
          <a:p xmlns:a="http://schemas.openxmlformats.org/drawingml/2006/main">
            <a:r>
              <a:t>https://github.com/joku-dev/devsecops-governance-framework/blob/4abe88294f299d7f801c74ff0161df234960c092/.github/workflows/intake-governance-result.yml</a:t>
            </a:r>
          </a:p>
          <a:p xmlns:a="http://schemas.openxmlformats.org/drawingml/2006/main">
            <a:r>
              <a:t/>
            </a:r>
          </a:p>
          <a:p xmlns:a="http://schemas.openxmlformats.org/drawingml/2006/main">
            <a:r>
              <a:t>[12] Betriebshandbuch</a:t>
            </a:r>
          </a:p>
          <a:p xmlns:a="http://schemas.openxmlformats.org/drawingml/2006/main">
            <a:r>
              <a:t>https://github.com/joku-dev/devsecops-governance-framework/blob/4abe88294f299d7f801c74ff0161df234960c092/docs/operations/guides/governance-repository-operations-handbook.md</a:t>
            </a:r>
          </a:p>
          <a:p xmlns:a="http://schemas.openxmlformats.org/drawingml/2006/main">
            <a:r>
              <a:t/>
            </a:r>
          </a:p>
          <a:p xmlns:a="http://schemas.openxmlformats.org/drawingml/2006/main">
            <a:r>
              <a:t>[15] Täglicher Betriebsbericht</a:t>
            </a:r>
          </a:p>
          <a:p xmlns:a="http://schemas.openxmlformats.org/drawingml/2006/main">
            <a:r>
              <a:t>https://github.com/joku-dev/devsecops-governance-framework/blob/4abe88294f299d7f801c74ff0161df234960c092/docs/operations/status/daily-governance-operations.md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Zum Abschluss den Viewer, einen Ergebnis-Snapshot, die Baseline, DSCB-L1-REQ-006 und sbom_required.rego öffnen. Der Demo-Runbook verwendet die angenommenen ha-CPsWMS-mainline-Läufe vom 11. September 2026: DevSecOps 34602002201 und Architektur 34602001140. Die 16 anwendbaren Controls und vier Architekturgates bestehen, ein separater DevSecOps-Replay-Befund bleibt offen. Vor einem späteren Vortrag die aktuelle Indexauswahl und Zeitstempel prüfen. Die Zuordnung zur Quelle bleibt der zentrale Nutzen des Rundgangs.</a:t>
            </a:r>
          </a:p>
          <a:p xmlns:a="http://schemas.openxmlformats.org/drawingml/2006/main">
            <a:r>
              <a:t/>
            </a:r>
          </a:p>
          <a:p xmlns:a="http://schemas.openxmlformats.org/drawingml/2006/main">
            <a:r>
              <a:t>Quellstand: 4abe88294f299d7f801c74ff0161df234960c092</a:t>
            </a:r>
          </a:p>
          <a:p xmlns:a="http://schemas.openxmlformats.org/drawingml/2006/main">
            <a:r>
              <a:t>[2] Governance Change Lifecycle</a:t>
            </a:r>
          </a:p>
          <a:p xmlns:a="http://schemas.openxmlformats.org/drawingml/2006/main">
            <a:r>
              <a:t>https://github.com/joku-dev/devsecops-governance-framework/blob/4abe88294f299d7f801c74ff0161df234960c092/docs/governance/governance-change-lifecycle.md</a:t>
            </a:r>
          </a:p>
          <a:p xmlns:a="http://schemas.openxmlformats.org/drawingml/2006/main">
            <a:r>
              <a:t/>
            </a:r>
          </a:p>
          <a:p xmlns:a="http://schemas.openxmlformats.org/drawingml/2006/main">
            <a:r>
              <a:t>[3] DevSecOps L1 Controls</a:t>
            </a:r>
          </a:p>
          <a:p xmlns:a="http://schemas.openxmlformats.org/drawingml/2006/main">
            <a:r>
              <a:t>https://github.com/joku-dev/devsecops-governance-framework/blob/4abe88294f299d7f801c74ff0161df234960c092/model/controls/dscb-l1.yaml</a:t>
            </a:r>
          </a:p>
          <a:p xmlns:a="http://schemas.openxmlformats.org/drawingml/2006/main">
            <a:r>
              <a:t/>
            </a:r>
          </a:p>
          <a:p xmlns:a="http://schemas.openxmlformats.org/drawingml/2006/main">
            <a:r>
              <a:t>[4] SBOM Policy</a:t>
            </a:r>
          </a:p>
          <a:p xmlns:a="http://schemas.openxmlformats.org/drawingml/2006/main">
            <a:r>
              <a:t>https://github.com/joku-dev/devsecops-governance-framework/blob/4abe88294f299d7f801c74ff0161df234960c092/policies/opa/sbom_required.rego</a:t>
            </a:r>
          </a:p>
          <a:p xmlns:a="http://schemas.openxmlformats.org/drawingml/2006/main">
            <a:r>
              <a:t/>
            </a:r>
          </a:p>
          <a:p xmlns:a="http://schemas.openxmlformats.org/drawingml/2006/main">
            <a:r>
              <a:t>[6] Result Intake und Viewer</a:t>
            </a:r>
          </a:p>
          <a:p xmlns:a="http://schemas.openxmlformats.org/drawingml/2006/main">
            <a:r>
              <a:t>https://github.com/joku-dev/devsecops-governance-framework/blob/4abe88294f299d7f801c74ff0161df234960c092/docs/operations/evidence/governance-result-intake-and-viewer-usage.md</a:t>
            </a:r>
          </a:p>
          <a:p xmlns:a="http://schemas.openxmlformats.org/drawingml/2006/main">
            <a:r>
              <a:t/>
            </a:r>
          </a:p>
          <a:p xmlns:a="http://schemas.openxmlformats.org/drawingml/2006/main">
            <a:r>
              <a:t>[13] Demo mit historischen Referenzläufen</a:t>
            </a:r>
          </a:p>
          <a:p xmlns:a="http://schemas.openxmlformats.org/drawingml/2006/main">
            <a:r>
              <a:t>https://github.com/joku-dev/devsecops-governance-framework/blob/4abe88294f299d7f801c74ff0161df234960c092/docs/demos/demo-end-to-end-governance.md</a:t>
            </a:r>
          </a:p>
          <a:p xmlns:a="http://schemas.openxmlformats.org/drawingml/2006/main">
            <a:r>
              <a:t/>
            </a:r>
          </a:p>
          <a:p xmlns:a="http://schemas.openxmlformats.org/drawingml/2006/main">
            <a:r>
              <a:t>[17] Angenommene DevSecOps-Ergebnisse</a:t>
            </a:r>
          </a:p>
          <a:p xmlns:a="http://schemas.openxmlformats.org/drawingml/2006/main">
            <a:r>
              <a:t>https://github.com/joku-dev/devsecops-governance-framework/blob/4abe88294f299d7f801c74ff0161df234960c092/status/repository-results-index.json</a:t>
            </a:r>
          </a:p>
          <a:p xmlns:a="http://schemas.openxmlformats.org/drawingml/2006/main">
            <a:r>
              <a:t/>
            </a:r>
          </a:p>
          <a:p xmlns:a="http://schemas.openxmlformats.org/drawingml/2006/main">
            <a:r>
              <a:t>[18] Angenommene Architektur-Ergebnisse</a:t>
            </a:r>
          </a:p>
          <a:p xmlns:a="http://schemas.openxmlformats.org/drawingml/2006/main">
            <a:r>
              <a:t>https://github.com/joku-dev/devsecops-governance-framework/blob/4abe88294f299d7f801c74ff0161df234960c092/status/architecture-results-index.json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091e1f701845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560d41081f4419" /><Relationship Type="http://schemas.openxmlformats.org/officeDocument/2006/relationships/slideLayout" Target="/ppt/slideLayouts/slideLayout1.xml" Id="R9d5f8e02fc474b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5f8e02fc474b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e7da8ab23a2443d" /><Relationship Type="http://schemas.openxmlformats.org/officeDocument/2006/relationships/notesSlide" Target="/ppt/notesSlides/notesSlide1.xml" Id="Rc17191138d3645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9acd53daaa84aa5" /><Relationship Type="http://schemas.openxmlformats.org/officeDocument/2006/relationships/notesSlide" Target="/ppt/notesSlides/notesSlide2.xml" Id="R6f6d2fb6155643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0470e57ad949a7" /><Relationship Type="http://schemas.openxmlformats.org/officeDocument/2006/relationships/notesSlide" Target="/ppt/notesSlides/notesSlide3.xml" Id="R57782bf1416a4c6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d1fbebb58c44b8" /><Relationship Type="http://schemas.openxmlformats.org/officeDocument/2006/relationships/notesSlide" Target="/ppt/notesSlides/notesSlide4.xml" Id="R03dae0af02664d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d6a9d1be3e4628" /><Relationship Type="http://schemas.openxmlformats.org/officeDocument/2006/relationships/notesSlide" Target="/ppt/notesSlides/notesSlide5.xml" Id="R855aaf59ed0949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d08990cac1245f6" /><Relationship Type="http://schemas.openxmlformats.org/officeDocument/2006/relationships/notesSlide" Target="/ppt/notesSlides/notesSlide6.xml" Id="Rdbd94bccf4154f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fa810346e604e03" /><Relationship Type="http://schemas.openxmlformats.org/officeDocument/2006/relationships/notesSlide" Target="/ppt/notesSlides/notesSlide7.xml" Id="R38e2810e78cd4c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0c294e36df2478f" /><Relationship Type="http://schemas.openxmlformats.org/officeDocument/2006/relationships/notesSlide" Target="/ppt/notesSlides/notesSlide8.xml" Id="Rb61c301e214c49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fa4f1c2501d4f5d" /><Relationship Type="http://schemas.openxmlformats.org/officeDocument/2006/relationships/notesSlide" Target="/ppt/notesSlides/notesSlide9.xml" Id="R38a39404e8cc43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ca1abbdf25b4523" /><Relationship Type="http://schemas.openxmlformats.org/officeDocument/2006/relationships/notesSlide" Target="/ppt/notesSlides/notesSlide10.xml" Id="Rf64a4569eabb4d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423debbb6324b81" /><Relationship Type="http://schemas.openxmlformats.org/officeDocument/2006/relationships/notesSlide" Target="/ppt/notesSlides/notesSlide11.xml" Id="R15657b6d744648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d01001f5cca4dd7" /><Relationship Type="http://schemas.openxmlformats.org/officeDocument/2006/relationships/notesSlide" Target="/ppt/notesSlides/notesSlide12.xml" Id="R853d1baae89d4a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5a21d67645d4131" /><Relationship Type="http://schemas.openxmlformats.org/officeDocument/2006/relationships/notesSlide" Target="/ppt/notesSlides/notesSlide13.xml" Id="R6faafafb04494b0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4d50c9cb3ec4813" /><Relationship Type="http://schemas.openxmlformats.org/officeDocument/2006/relationships/notesSlide" Target="/ppt/notesSlides/notesSlide14.xml" Id="R2b75dbbea234410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7f26dcc1ad746cb" /><Relationship Type="http://schemas.openxmlformats.org/officeDocument/2006/relationships/notesSlide" Target="/ppt/notesSlides/notesSlide15.xml" Id="R823a59d5840c4a0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b0ee5ba48494d10" /><Relationship Type="http://schemas.openxmlformats.org/officeDocument/2006/relationships/notesSlide" Target="/ppt/notesSlides/notesSlide16.xml" Id="R20b10c0d53294810" /></Relationships>
</file>

<file path=ppt/slides/slide1.xml><?xml version="1.0" encoding="utf-8"?>
<p:sld xmlns:p="http://schemas.openxmlformats.org/presentationml/2006/main">
  <p:cSld>
    <p:bg>
      <p:bgPr>
        <a:solidFill xmlns:a="http://schemas.openxmlformats.org/drawingml/2006/main">
          <a:srgbClr val="16394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DA53DBA-BF1E-4AAD-86AE-96F259D17E9C}"/>
              </a:ext>
            </a:extLst>
          </p:cNvPr>
          <p:cNvSpPr>
            <a:spLocks xmlns:a="http://schemas.openxmlformats.org/drawingml/2006/main" noGrp="1"/>
          </p:cNvSpPr>
          <p:nvPr/>
        </p:nvSpPr>
        <p:spPr>
          <a:xfrm xmlns:a="http://schemas.openxmlformats.org/drawingml/2006/main">
            <a:off x="781050" y="173355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Wie das Repository arbeitet</a:t>
            </a:r>
          </a:p>
        </p:txBody>
      </p:sp>
      <p:sp>
        <p:nvSpPr>
          <p:cNvPr id="2" name="">
            <a:extLst xmlns:a="http://schemas.openxmlformats.org/drawingml/2006/main">
              <a:ext uri="{FF2B5EF4-FFF2-40B4-BE49-F238E27FC236}">
                <a16:creationId xmlns:a16="http://schemas.microsoft.com/office/drawing/2014/main" id="{0532F6F3-91A2-4987-BBA9-F30D6AA06C7D}"/>
              </a:ext>
            </a:extLst>
          </p:cNvPr>
          <p:cNvSpPr>
            <a:spLocks xmlns:a="http://schemas.openxmlformats.org/drawingml/2006/main" noGrp="1"/>
          </p:cNvSpPr>
          <p:nvPr/>
        </p:nvSpPr>
        <p:spPr>
          <a:xfrm xmlns:a="http://schemas.openxmlformats.org/drawingml/2006/main">
            <a:off x="819150" y="3524250"/>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DCE9EB"/>
                </a:solidFill>
                <a:latin typeface="Arial"/>
                <a:ea typeface="Arial"/>
                <a:cs typeface="Arial"/>
              </a:defRPr>
            </a:pPr>
            <a:r>
              <a:rPr sz="2550" b="0">
                <a:solidFill>
                  <a:srgbClr val="DCE9EB"/>
                </a:solidFill>
                <a:latin typeface="Arial"/>
                <a:ea typeface="Arial"/>
                <a:cs typeface="Arial"/>
              </a:rPr>
              <a:t>DevSecOps Governance Framework</a:t>
            </a:r>
          </a:p>
          <a:p xmlns:a="http://schemas.openxmlformats.org/drawingml/2006/main">
            <a:pPr>
              <a:defRPr sz="2550" b="0">
                <a:solidFill>
                  <a:srgbClr val="DCE9EB"/>
                </a:solidFill>
                <a:latin typeface="Arial"/>
                <a:ea typeface="Arial"/>
                <a:cs typeface="Arial"/>
              </a:defRPr>
            </a:pPr>
            <a:r>
              <a:rPr sz="2550" b="0">
                <a:solidFill>
                  <a:srgbClr val="DCE9EB"/>
                </a:solidFill>
                <a:latin typeface="Arial"/>
                <a:ea typeface="Arial"/>
                <a:cs typeface="Arial"/>
              </a:rPr>
              <a:t>Vorgaben, Prüfungen und nachvollziehbare Ergebnisse</a:t>
            </a:r>
          </a:p>
        </p:txBody>
      </p:sp>
      <p:sp>
        <p:nvSpPr>
          <p:cNvPr id="3" name="">
            <a:extLst xmlns:a="http://schemas.openxmlformats.org/drawingml/2006/main">
              <a:ext uri="{FF2B5EF4-FFF2-40B4-BE49-F238E27FC236}">
                <a16:creationId xmlns:a16="http://schemas.microsoft.com/office/drawing/2014/main" id="{B44258E2-9957-4233-AF37-A6B4E3A79A8F}"/>
              </a:ext>
            </a:extLst>
          </p:cNvPr>
          <p:cNvSpPr>
            <a:spLocks xmlns:a="http://schemas.openxmlformats.org/drawingml/2006/main" noGrp="1"/>
          </p:cNvSpPr>
          <p:nvPr/>
        </p:nvSpPr>
        <p:spPr>
          <a:xfrm xmlns:a="http://schemas.openxmlformats.org/drawingml/2006/main">
            <a:off x="819150" y="582930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DCE9EB"/>
                </a:solidFill>
                <a:latin typeface="Arial"/>
                <a:ea typeface="Arial"/>
                <a:cs typeface="Arial"/>
              </a:defRPr>
            </a:pPr>
            <a:r>
              <a:rPr sz="1650" b="0">
                <a:solidFill>
                  <a:srgbClr val="DCE9EB"/>
                </a:solidFill>
                <a:latin typeface="Arial"/>
                <a:ea typeface="Arial"/>
                <a:cs typeface="Arial"/>
              </a:rPr>
              <a:t>Stand 11. September 2026</a:t>
            </a:r>
          </a:p>
        </p:txBody>
      </p:sp>
    </p:spTree>
    <p:extLst>
      <p:ext uri="{BB962C8B-B14F-4D97-AF65-F5344CB8AC3E}">
        <p14:creationId xmlns:p14="http://schemas.microsoft.com/office/powerpoint/2010/main" val="17955141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7FA7F07-7261-40EF-88D0-E702B629DA88}"/>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Der vollständige Governance-Ablauf</a:t>
            </a:r>
          </a:p>
        </p:txBody>
      </p:sp>
      <p:sp>
        <p:nvSpPr>
          <p:cNvPr id="2" name="">
            <a:extLst xmlns:a="http://schemas.openxmlformats.org/drawingml/2006/main">
              <a:ext uri="{FF2B5EF4-FFF2-40B4-BE49-F238E27FC236}">
                <a16:creationId xmlns:a16="http://schemas.microsoft.com/office/drawing/2014/main" id="{19630927-6198-4539-A549-22E742753F52}"/>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Vier Ebenen verbinden fachliche Vorgaben mit der Auswertung von Anwendungen.</a:t>
            </a:r>
          </a:p>
        </p:txBody>
      </p:sp>
      <p:sp>
        <p:nvSpPr>
          <p:cNvPr id="3" name="">
            <a:extLst xmlns:a="http://schemas.openxmlformats.org/drawingml/2006/main">
              <a:ext uri="{FF2B5EF4-FFF2-40B4-BE49-F238E27FC236}">
                <a16:creationId xmlns:a16="http://schemas.microsoft.com/office/drawing/2014/main" id="{3CDF74F0-AC52-431C-9DB6-4AACBB55E2AA}"/>
              </a:ext>
            </a:extLst>
          </p:cNvPr>
          <p:cNvSpPr>
            <a:spLocks xmlns:a="http://schemas.openxmlformats.org/drawingml/2006/main" noGrp="1"/>
          </p:cNvSpPr>
          <p:nvPr/>
        </p:nvSpPr>
        <p:spPr>
          <a:xfrm xmlns:a="http://schemas.openxmlformats.org/drawingml/2006/main">
            <a:off x="762000" y="2381250"/>
            <a:ext cx="2743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01  Vorgaben</a:t>
            </a:r>
          </a:p>
        </p:txBody>
      </p:sp>
      <p:sp>
        <p:nvSpPr>
          <p:cNvPr id="4" name="">
            <a:extLst xmlns:a="http://schemas.openxmlformats.org/drawingml/2006/main">
              <a:ext uri="{FF2B5EF4-FFF2-40B4-BE49-F238E27FC236}">
                <a16:creationId xmlns:a16="http://schemas.microsoft.com/office/drawing/2014/main" id="{C9A0D556-7BF9-4CD6-8609-E131E4223B9F}"/>
              </a:ext>
            </a:extLst>
          </p:cNvPr>
          <p:cNvSpPr>
            <a:spLocks xmlns:a="http://schemas.openxmlformats.org/drawingml/2006/main" noGrp="1"/>
          </p:cNvSpPr>
          <p:nvPr/>
        </p:nvSpPr>
        <p:spPr>
          <a:xfrm xmlns:a="http://schemas.openxmlformats.org/drawingml/2006/main">
            <a:off x="3771900" y="2381250"/>
            <a:ext cx="7562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F3B"/>
                </a:solidFill>
                <a:latin typeface="Arial"/>
                <a:ea typeface="Arial"/>
                <a:cs typeface="Arial"/>
              </a:defRPr>
            </a:pPr>
            <a:r>
              <a:rPr sz="2025" b="0">
                <a:solidFill>
                  <a:srgbClr val="182F3B"/>
                </a:solidFill>
                <a:latin typeface="Arial"/>
                <a:ea typeface="Arial"/>
                <a:cs typeface="Arial"/>
              </a:rPr>
              <a:t>Menschen prüfen Quellen und entscheiden, welche Anforderungen gelten.</a:t>
            </a:r>
          </a:p>
        </p:txBody>
      </p:sp>
      <p:sp>
        <p:nvSpPr>
          <p:cNvPr id="5" name="">
            <a:extLst xmlns:a="http://schemas.openxmlformats.org/drawingml/2006/main">
              <a:ext uri="{FF2B5EF4-FFF2-40B4-BE49-F238E27FC236}">
                <a16:creationId xmlns:a16="http://schemas.microsoft.com/office/drawing/2014/main" id="{B1B5D1CC-CE85-4F45-9A8D-53CDDC0C48B6}"/>
              </a:ext>
            </a:extLst>
          </p:cNvPr>
          <p:cNvSpPr>
            <a:spLocks xmlns:a="http://schemas.openxmlformats.org/drawingml/2006/main" noGrp="1"/>
          </p:cNvSpPr>
          <p:nvPr/>
        </p:nvSpPr>
        <p:spPr>
          <a:xfrm xmlns:a="http://schemas.openxmlformats.org/drawingml/2006/main">
            <a:off x="762000" y="3276600"/>
            <a:ext cx="2743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02  Modelle</a:t>
            </a:r>
          </a:p>
        </p:txBody>
      </p:sp>
      <p:sp>
        <p:nvSpPr>
          <p:cNvPr id="6" name="">
            <a:extLst xmlns:a="http://schemas.openxmlformats.org/drawingml/2006/main">
              <a:ext uri="{FF2B5EF4-FFF2-40B4-BE49-F238E27FC236}">
                <a16:creationId xmlns:a16="http://schemas.microsoft.com/office/drawing/2014/main" id="{5E003A03-C701-47AF-BDA1-23730CC0F0DF}"/>
              </a:ext>
            </a:extLst>
          </p:cNvPr>
          <p:cNvSpPr>
            <a:spLocks xmlns:a="http://schemas.openxmlformats.org/drawingml/2006/main" noGrp="1"/>
          </p:cNvSpPr>
          <p:nvPr/>
        </p:nvSpPr>
        <p:spPr>
          <a:xfrm xmlns:a="http://schemas.openxmlformats.org/drawingml/2006/main">
            <a:off x="3771900" y="3276600"/>
            <a:ext cx="7562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F3B"/>
                </a:solidFill>
                <a:latin typeface="Arial"/>
                <a:ea typeface="Arial"/>
                <a:cs typeface="Arial"/>
              </a:defRPr>
            </a:pPr>
            <a:r>
              <a:rPr sz="2025" b="0">
                <a:solidFill>
                  <a:srgbClr val="182F3B"/>
                </a:solidFill>
                <a:latin typeface="Arial"/>
                <a:ea typeface="Arial"/>
                <a:cs typeface="Arial"/>
              </a:rPr>
              <a:t>Kontrollen, Architekturmarker und Nachweisformate machen Anforderungen strukturiert nutzbar.</a:t>
            </a:r>
          </a:p>
        </p:txBody>
      </p:sp>
      <p:sp>
        <p:nvSpPr>
          <p:cNvPr id="7" name="">
            <a:extLst xmlns:a="http://schemas.openxmlformats.org/drawingml/2006/main">
              <a:ext uri="{FF2B5EF4-FFF2-40B4-BE49-F238E27FC236}">
                <a16:creationId xmlns:a16="http://schemas.microsoft.com/office/drawing/2014/main" id="{65118492-FF2E-4108-B156-A269CA15FBA8}"/>
              </a:ext>
            </a:extLst>
          </p:cNvPr>
          <p:cNvSpPr>
            <a:spLocks xmlns:a="http://schemas.openxmlformats.org/drawingml/2006/main" noGrp="1"/>
          </p:cNvSpPr>
          <p:nvPr/>
        </p:nvSpPr>
        <p:spPr>
          <a:xfrm xmlns:a="http://schemas.openxmlformats.org/drawingml/2006/main">
            <a:off x="762000" y="4171950"/>
            <a:ext cx="2743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03  Auswertung</a:t>
            </a:r>
          </a:p>
        </p:txBody>
      </p:sp>
      <p:sp>
        <p:nvSpPr>
          <p:cNvPr id="8" name="">
            <a:extLst xmlns:a="http://schemas.openxmlformats.org/drawingml/2006/main">
              <a:ext uri="{FF2B5EF4-FFF2-40B4-BE49-F238E27FC236}">
                <a16:creationId xmlns:a16="http://schemas.microsoft.com/office/drawing/2014/main" id="{6E3F45ED-685E-4BB8-89ED-9513A40A81B8}"/>
              </a:ext>
            </a:extLst>
          </p:cNvPr>
          <p:cNvSpPr>
            <a:spLocks xmlns:a="http://schemas.openxmlformats.org/drawingml/2006/main" noGrp="1"/>
          </p:cNvSpPr>
          <p:nvPr/>
        </p:nvSpPr>
        <p:spPr>
          <a:xfrm xmlns:a="http://schemas.openxmlformats.org/drawingml/2006/main">
            <a:off x="3771900" y="4171950"/>
            <a:ext cx="7562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F3B"/>
                </a:solidFill>
                <a:latin typeface="Arial"/>
                <a:ea typeface="Arial"/>
                <a:cs typeface="Arial"/>
              </a:defRPr>
            </a:pPr>
            <a:r>
              <a:rPr sz="2025" b="0">
                <a:solidFill>
                  <a:srgbClr val="182F3B"/>
                </a:solidFill>
                <a:latin typeface="Arial"/>
                <a:ea typeface="Arial"/>
                <a:cs typeface="Arial"/>
              </a:rPr>
              <a:t>Versionierte Regeln prüfen die Nachweise einer konkreten Anwendung.</a:t>
            </a:r>
          </a:p>
        </p:txBody>
      </p:sp>
      <p:sp>
        <p:nvSpPr>
          <p:cNvPr id="9" name="">
            <a:extLst xmlns:a="http://schemas.openxmlformats.org/drawingml/2006/main">
              <a:ext uri="{FF2B5EF4-FFF2-40B4-BE49-F238E27FC236}">
                <a16:creationId xmlns:a16="http://schemas.microsoft.com/office/drawing/2014/main" id="{97B1BCDE-4CA6-43E3-A069-7B91B1F95C9A}"/>
              </a:ext>
            </a:extLst>
          </p:cNvPr>
          <p:cNvSpPr>
            <a:spLocks xmlns:a="http://schemas.openxmlformats.org/drawingml/2006/main" noGrp="1"/>
          </p:cNvSpPr>
          <p:nvPr/>
        </p:nvSpPr>
        <p:spPr>
          <a:xfrm xmlns:a="http://schemas.openxmlformats.org/drawingml/2006/main">
            <a:off x="762000" y="5067300"/>
            <a:ext cx="2743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04  Übersicht</a:t>
            </a:r>
          </a:p>
        </p:txBody>
      </p:sp>
      <p:sp>
        <p:nvSpPr>
          <p:cNvPr id="10" name="">
            <a:extLst xmlns:a="http://schemas.openxmlformats.org/drawingml/2006/main">
              <a:ext uri="{FF2B5EF4-FFF2-40B4-BE49-F238E27FC236}">
                <a16:creationId xmlns:a16="http://schemas.microsoft.com/office/drawing/2014/main" id="{B9F1FC6A-B114-4E85-B853-F88CD744DC49}"/>
              </a:ext>
            </a:extLst>
          </p:cNvPr>
          <p:cNvSpPr>
            <a:spLocks xmlns:a="http://schemas.openxmlformats.org/drawingml/2006/main" noGrp="1"/>
          </p:cNvSpPr>
          <p:nvPr/>
        </p:nvSpPr>
        <p:spPr>
          <a:xfrm xmlns:a="http://schemas.openxmlformats.org/drawingml/2006/main">
            <a:off x="3771900" y="5067300"/>
            <a:ext cx="7562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F3B"/>
                </a:solidFill>
                <a:latin typeface="Arial"/>
                <a:ea typeface="Arial"/>
                <a:cs typeface="Arial"/>
              </a:defRPr>
            </a:pPr>
            <a:r>
              <a:rPr sz="2025" b="0">
                <a:solidFill>
                  <a:srgbClr val="182F3B"/>
                </a:solidFill>
                <a:latin typeface="Arial"/>
                <a:ea typeface="Arial"/>
                <a:cs typeface="Arial"/>
              </a:rPr>
              <a:t>Intake und Review übernehmen Ergebnisse in die zentrale Statusanzeige.</a:t>
            </a:r>
          </a:p>
        </p:txBody>
      </p:sp>
      <p:sp>
        <p:nvSpPr>
          <p:cNvPr id="11" name="">
            <a:extLst xmlns:a="http://schemas.openxmlformats.org/drawingml/2006/main">
              <a:ext uri="{FF2B5EF4-FFF2-40B4-BE49-F238E27FC236}">
                <a16:creationId xmlns:a16="http://schemas.microsoft.com/office/drawing/2014/main" id="{F592B2AC-8983-4D2D-AA25-7A3EB7CC465C}"/>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11. September 2026     2 / 16</a:t>
            </a:r>
          </a:p>
        </p:txBody>
      </p:sp>
    </p:spTree>
    <p:extLst>
      <p:ext uri="{BB962C8B-B14F-4D97-AF65-F5344CB8AC3E}">
        <p14:creationId xmlns:p14="http://schemas.microsoft.com/office/powerpoint/2010/main" val="141881469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E79110-D54E-47C7-8A59-770E29720DB5}"/>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Zwei Repositories mit klaren Aufgaben</a:t>
            </a:r>
          </a:p>
        </p:txBody>
      </p:sp>
      <p:sp>
        <p:nvSpPr>
          <p:cNvPr id="2" name="">
            <a:extLst xmlns:a="http://schemas.openxmlformats.org/drawingml/2006/main">
              <a:ext uri="{FF2B5EF4-FFF2-40B4-BE49-F238E27FC236}">
                <a16:creationId xmlns:a16="http://schemas.microsoft.com/office/drawing/2014/main" id="{F3E11BE7-641D-49BA-A280-6D68D8CD96BA}"/>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Das Governance-Repository liefert Regeln. Das Anwendungs-Repository liefert Nachweise.</a:t>
            </a:r>
          </a:p>
        </p:txBody>
      </p:sp>
      <p:sp>
        <p:nvSpPr>
          <p:cNvPr id="3" name="">
            <a:extLst xmlns:a="http://schemas.openxmlformats.org/drawingml/2006/main">
              <a:ext uri="{FF2B5EF4-FFF2-40B4-BE49-F238E27FC236}">
                <a16:creationId xmlns:a16="http://schemas.microsoft.com/office/drawing/2014/main" id="{628821A1-5C83-43E4-9410-670A828DAFA9}"/>
              </a:ext>
            </a:extLst>
          </p:cNvPr>
          <p:cNvSpPr>
            <a:spLocks xmlns:a="http://schemas.openxmlformats.org/drawingml/2006/main" noGrp="1"/>
          </p:cNvSpPr>
          <p:nvPr/>
        </p:nvSpPr>
        <p:spPr>
          <a:xfrm xmlns:a="http://schemas.openxmlformats.org/drawingml/2006/main">
            <a:off x="762000" y="2609850"/>
            <a:ext cx="502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76B74"/>
                </a:solidFill>
                <a:latin typeface="Arial"/>
                <a:ea typeface="Arial"/>
                <a:cs typeface="Arial"/>
              </a:defRPr>
            </a:pPr>
            <a:r>
              <a:rPr sz="2700" b="1">
                <a:solidFill>
                  <a:srgbClr val="176B74"/>
                </a:solidFill>
                <a:latin typeface="Arial"/>
                <a:ea typeface="Arial"/>
                <a:cs typeface="Arial"/>
              </a:rPr>
              <a:t>Governance-Repository</a:t>
            </a:r>
          </a:p>
        </p:txBody>
      </p:sp>
      <p:sp>
        <p:nvSpPr>
          <p:cNvPr id="4" name="">
            <a:extLst xmlns:a="http://schemas.openxmlformats.org/drawingml/2006/main">
              <a:ext uri="{FF2B5EF4-FFF2-40B4-BE49-F238E27FC236}">
                <a16:creationId xmlns:a16="http://schemas.microsoft.com/office/drawing/2014/main" id="{C481D137-C295-4128-9A75-AEDA2F867FBD}"/>
              </a:ext>
            </a:extLst>
          </p:cNvPr>
          <p:cNvSpPr>
            <a:spLocks xmlns:a="http://schemas.openxmlformats.org/drawingml/2006/main" noGrp="1"/>
          </p:cNvSpPr>
          <p:nvPr/>
        </p:nvSpPr>
        <p:spPr>
          <a:xfrm xmlns:a="http://schemas.openxmlformats.org/drawingml/2006/main">
            <a:off x="762000" y="3524250"/>
            <a:ext cx="49911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Quellen und Modelle pflegen</a:t>
            </a:r>
          </a:p>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Baselines veröffentlichen</a:t>
            </a:r>
          </a:p>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Ergebnisse aufnehmen und anzeigen</a:t>
            </a:r>
          </a:p>
        </p:txBody>
      </p:sp>
      <p:sp>
        <p:nvSpPr>
          <p:cNvPr id="5" name="">
            <a:extLst xmlns:a="http://schemas.openxmlformats.org/drawingml/2006/main">
              <a:ext uri="{FF2B5EF4-FFF2-40B4-BE49-F238E27FC236}">
                <a16:creationId xmlns:a16="http://schemas.microsoft.com/office/drawing/2014/main" id="{7462F4DF-83FD-4697-94BC-56486CF25760}"/>
              </a:ext>
            </a:extLst>
          </p:cNvPr>
          <p:cNvSpPr>
            <a:spLocks xmlns:a="http://schemas.openxmlformats.org/drawingml/2006/main" noGrp="1"/>
          </p:cNvSpPr>
          <p:nvPr/>
        </p:nvSpPr>
        <p:spPr>
          <a:xfrm xmlns:a="http://schemas.openxmlformats.org/drawingml/2006/main">
            <a:off x="6419850" y="2609850"/>
            <a:ext cx="502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76B74"/>
                </a:solidFill>
                <a:latin typeface="Arial"/>
                <a:ea typeface="Arial"/>
                <a:cs typeface="Arial"/>
              </a:defRPr>
            </a:pPr>
            <a:r>
              <a:rPr sz="2700" b="1">
                <a:solidFill>
                  <a:srgbClr val="176B74"/>
                </a:solidFill>
                <a:latin typeface="Arial"/>
                <a:ea typeface="Arial"/>
                <a:cs typeface="Arial"/>
              </a:rPr>
              <a:t>Anwendungs-Repository</a:t>
            </a:r>
          </a:p>
        </p:txBody>
      </p:sp>
      <p:sp>
        <p:nvSpPr>
          <p:cNvPr id="6" name="">
            <a:extLst xmlns:a="http://schemas.openxmlformats.org/drawingml/2006/main">
              <a:ext uri="{FF2B5EF4-FFF2-40B4-BE49-F238E27FC236}">
                <a16:creationId xmlns:a16="http://schemas.microsoft.com/office/drawing/2014/main" id="{27E2EB86-2697-4CF6-AF05-D496C1E067FA}"/>
              </a:ext>
            </a:extLst>
          </p:cNvPr>
          <p:cNvSpPr>
            <a:spLocks xmlns:a="http://schemas.openxmlformats.org/drawingml/2006/main" noGrp="1"/>
          </p:cNvSpPr>
          <p:nvPr/>
        </p:nvSpPr>
        <p:spPr>
          <a:xfrm xmlns:a="http://schemas.openxmlformats.org/drawingml/2006/main">
            <a:off x="6419850" y="3524250"/>
            <a:ext cx="49911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Anwendung bauen und prüfen</a:t>
            </a:r>
          </a:p>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Nachweise einem Lauf zuordnen</a:t>
            </a:r>
          </a:p>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Governance-Workflows ausführen</a:t>
            </a:r>
          </a:p>
        </p:txBody>
      </p:sp>
      <p:sp>
        <p:nvSpPr>
          <p:cNvPr id="7" name="">
            <a:extLst xmlns:a="http://schemas.openxmlformats.org/drawingml/2006/main">
              <a:ext uri="{FF2B5EF4-FFF2-40B4-BE49-F238E27FC236}">
                <a16:creationId xmlns:a16="http://schemas.microsoft.com/office/drawing/2014/main" id="{3B6F08B1-95CB-43C8-940C-B44272F649FF}"/>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11. September 2026     3 / 16</a:t>
            </a:r>
          </a:p>
        </p:txBody>
      </p:sp>
    </p:spTree>
    <p:extLst>
      <p:ext uri="{BB962C8B-B14F-4D97-AF65-F5344CB8AC3E}">
        <p14:creationId xmlns:p14="http://schemas.microsoft.com/office/powerpoint/2010/main" val="14489591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84EDD6-5AF0-4C75-B277-3EE50B5BAC8A}"/>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Die wichtigsten Bereiche im Repository</a:t>
            </a:r>
          </a:p>
        </p:txBody>
      </p:sp>
      <p:sp>
        <p:nvSpPr>
          <p:cNvPr id="2" name="">
            <a:extLst xmlns:a="http://schemas.openxmlformats.org/drawingml/2006/main">
              <a:ext uri="{FF2B5EF4-FFF2-40B4-BE49-F238E27FC236}">
                <a16:creationId xmlns:a16="http://schemas.microsoft.com/office/drawing/2014/main" id="{00E7E7A9-4E16-435A-897A-4B6E2343D00E}"/>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Jeder Bereich hat eine eigene Rolle im Ablauf.</a:t>
            </a:r>
          </a:p>
        </p:txBody>
      </p:sp>
      <p:graphicFrame>
        <p:nvGraphicFramePr>
          <p:cNvPr id="7" name=""/>
          <p:cNvGraphicFramePr/>
          <p:nvPr/>
        </p:nvGraphicFramePr>
        <p:xfrm>
          <a:off xmlns:a="http://schemas.openxmlformats.org/drawingml/2006/main" x="742950" y="2343150"/>
          <a:ext xmlns:a="http://schemas.openxmlformats.org/drawingml/2006/main" cx="10706100" cy="3524250"/>
        </p:xfrm>
        <a:graphic xmlns:a="http://schemas.openxmlformats.org/drawingml/2006/main">
          <a:graphicData uri="http://schemas.openxmlformats.org/drawingml/2006/table">
            <a:tbl>
              <a:tblPr firstRow="1" bandRow="0"/>
              <a:tblGrid>
                <a:gridCol w="3905250"/>
                <a:gridCol w="6800850"/>
              </a:tblGrid>
              <a:tr h="533400">
                <a:tc>
                  <a:txBody>
                    <a:bodyPr lIns="152400" tIns="95250" rIns="152400" bIns="95250">
                      <a:noAutofit/>
                    </a:bodyPr>
                    <a:lstStyle/>
                    <a:p>
                      <a:r>
                        <a:rPr sz="1800" b="1">
                          <a:solidFill>
                            <a:srgbClr val="FFFFFF"/>
                          </a:solidFill>
                          <a:latin typeface="Arial"/>
                          <a:ea typeface="Arial"/>
                          <a:cs typeface="Arial"/>
                        </a:rPr>
                        <a:t>Bereich</a:t>
                      </a:r>
                    </a:p>
                  </a:txBody>
                  <a:tcPr marL="91440" marR="91440" marT="45720" marB="45720" anchor="ctr">
                    <a:solidFill>
                      <a:srgbClr val="16394A"/>
                    </a:solidFill>
                  </a:tcPr>
                </a:tc>
                <a:tc>
                  <a:txBody>
                    <a:bodyPr lIns="152400" tIns="95250" rIns="152400" bIns="95250">
                      <a:noAutofit/>
                    </a:bodyPr>
                    <a:lstStyle/>
                    <a:p>
                      <a:r>
                        <a:rPr sz="1800" b="1">
                          <a:solidFill>
                            <a:srgbClr val="FFFFFF"/>
                          </a:solidFill>
                          <a:latin typeface="Arial"/>
                          <a:ea typeface="Arial"/>
                          <a:cs typeface="Arial"/>
                        </a:rPr>
                        <a:t>Inhalt und Aufgabe</a:t>
                      </a:r>
                    </a:p>
                  </a:txBody>
                  <a:tcPr marL="91440" marR="91440" marT="45720" marB="45720" anchor="ctr">
                    <a:solidFill>
                      <a:srgbClr val="16394A"/>
                    </a:solidFill>
                  </a:tcPr>
                </a:tc>
              </a:tr>
              <a:tr h="609600">
                <a:tc>
                  <a:txBody>
                    <a:bodyPr lIns="152400" tIns="95250" rIns="152400" bIns="95250">
                      <a:noAutofit/>
                    </a:bodyPr>
                    <a:lstStyle/>
                    <a:p>
                      <a:r>
                        <a:rPr sz="1800" b="0">
                          <a:solidFill>
                            <a:srgbClr val="182F3B"/>
                          </a:solidFill>
                          <a:latin typeface="Arial"/>
                          <a:ea typeface="Arial"/>
                          <a:cs typeface="Arial"/>
                        </a:rPr>
                        <a:t>docs/governance/</a:t>
                      </a:r>
                    </a:p>
                  </a:txBody>
                  <a:tcPr marL="91440" marR="91440" marT="45720" marB="45720" anchor="ctr">
                    <a:solidFill>
                      <a:srgbClr val="FFFFFF"/>
                    </a:solidFill>
                  </a:tcPr>
                </a:tc>
                <a:tc>
                  <a:txBody>
                    <a:bodyPr lIns="152400" tIns="95250" rIns="152400" bIns="95250">
                      <a:noAutofit/>
                    </a:bodyPr>
                    <a:lstStyle/>
                    <a:p>
                      <a:r>
                        <a:rPr sz="1800" b="0">
                          <a:solidFill>
                            <a:srgbClr val="182F3B"/>
                          </a:solidFill>
                          <a:latin typeface="Arial"/>
                          <a:ea typeface="Arial"/>
                          <a:cs typeface="Arial"/>
                        </a:rPr>
                        <a:t>Quellen, Entscheidungen und Änderungsprozess</a:t>
                      </a:r>
                    </a:p>
                  </a:txBody>
                  <a:tcPr marL="91440" marR="91440" marT="45720" marB="45720" anchor="ctr">
                    <a:solidFill>
                      <a:srgbClr val="FFFFFF"/>
                    </a:solidFill>
                  </a:tcPr>
                </a:tc>
              </a:tr>
              <a:tr h="609600">
                <a:tc>
                  <a:txBody>
                    <a:bodyPr lIns="152400" tIns="95250" rIns="152400" bIns="95250">
                      <a:noAutofit/>
                    </a:bodyPr>
                    <a:lstStyle/>
                    <a:p>
                      <a:r>
                        <a:rPr sz="1800" b="0">
                          <a:solidFill>
                            <a:srgbClr val="182F3B"/>
                          </a:solidFill>
                          <a:latin typeface="Arial"/>
                          <a:ea typeface="Arial"/>
                          <a:cs typeface="Arial"/>
                        </a:rPr>
                        <a:t>model/ und architecture/</a:t>
                      </a:r>
                    </a:p>
                  </a:txBody>
                  <a:tcPr marL="91440" marR="91440" marT="45720" marB="45720" anchor="ctr">
                    <a:solidFill>
                      <a:srgbClr val="F0F4F5"/>
                    </a:solidFill>
                  </a:tcPr>
                </a:tc>
                <a:tc>
                  <a:txBody>
                    <a:bodyPr lIns="152400" tIns="95250" rIns="152400" bIns="95250">
                      <a:noAutofit/>
                    </a:bodyPr>
                    <a:lstStyle/>
                    <a:p>
                      <a:r>
                        <a:rPr sz="1800" b="0">
                          <a:solidFill>
                            <a:srgbClr val="182F3B"/>
                          </a:solidFill>
                          <a:latin typeface="Arial"/>
                          <a:ea typeface="Arial"/>
                          <a:cs typeface="Arial"/>
                        </a:rPr>
                        <a:t>Kontrollen, Zuordnungen und Architekturmarker</a:t>
                      </a:r>
                    </a:p>
                  </a:txBody>
                  <a:tcPr marL="91440" marR="91440" marT="45720" marB="45720" anchor="ctr">
                    <a:solidFill>
                      <a:srgbClr val="F0F4F5"/>
                    </a:solidFill>
                  </a:tcPr>
                </a:tc>
              </a:tr>
              <a:tr h="609600">
                <a:tc>
                  <a:txBody>
                    <a:bodyPr lIns="152400" tIns="95250" rIns="152400" bIns="95250">
                      <a:noAutofit/>
                    </a:bodyPr>
                    <a:lstStyle/>
                    <a:p>
                      <a:r>
                        <a:rPr sz="1800" b="0">
                          <a:solidFill>
                            <a:srgbClr val="182F3B"/>
                          </a:solidFill>
                          <a:latin typeface="Arial"/>
                          <a:ea typeface="Arial"/>
                          <a:cs typeface="Arial"/>
                        </a:rPr>
                        <a:t>policies/opa/ und schemas/</a:t>
                      </a:r>
                    </a:p>
                  </a:txBody>
                  <a:tcPr marL="91440" marR="91440" marT="45720" marB="45720" anchor="ctr">
                    <a:solidFill>
                      <a:srgbClr val="FFFFFF"/>
                    </a:solidFill>
                  </a:tcPr>
                </a:tc>
                <a:tc>
                  <a:txBody>
                    <a:bodyPr lIns="152400" tIns="95250" rIns="152400" bIns="95250">
                      <a:noAutofit/>
                    </a:bodyPr>
                    <a:lstStyle/>
                    <a:p>
                      <a:r>
                        <a:rPr sz="1800" b="0">
                          <a:solidFill>
                            <a:srgbClr val="182F3B"/>
                          </a:solidFill>
                          <a:latin typeface="Arial"/>
                          <a:ea typeface="Arial"/>
                          <a:cs typeface="Arial"/>
                        </a:rPr>
                        <a:t>Ausführbare Regeln und gültige Datenstrukturen</a:t>
                      </a:r>
                    </a:p>
                  </a:txBody>
                  <a:tcPr marL="91440" marR="91440" marT="45720" marB="45720" anchor="ctr">
                    <a:solidFill>
                      <a:srgbClr val="FFFFFF"/>
                    </a:solidFill>
                  </a:tcPr>
                </a:tc>
              </a:tr>
              <a:tr h="609600">
                <a:tc>
                  <a:txBody>
                    <a:bodyPr lIns="152400" tIns="95250" rIns="152400" bIns="95250">
                      <a:noAutofit/>
                    </a:bodyPr>
                    <a:lstStyle/>
                    <a:p>
                      <a:r>
                        <a:rPr sz="1800" b="0">
                          <a:solidFill>
                            <a:srgbClr val="182F3B"/>
                          </a:solidFill>
                          <a:latin typeface="Arial"/>
                          <a:ea typeface="Arial"/>
                          <a:cs typeface="Arial"/>
                        </a:rPr>
                        <a:t>releases/</a:t>
                      </a:r>
                    </a:p>
                  </a:txBody>
                  <a:tcPr marL="91440" marR="91440" marT="45720" marB="45720" anchor="ctr">
                    <a:solidFill>
                      <a:srgbClr val="F0F4F5"/>
                    </a:solidFill>
                  </a:tcPr>
                </a:tc>
                <a:tc>
                  <a:txBody>
                    <a:bodyPr lIns="152400" tIns="95250" rIns="152400" bIns="95250">
                      <a:noAutofit/>
                    </a:bodyPr>
                    <a:lstStyle/>
                    <a:p>
                      <a:r>
                        <a:rPr sz="1800" b="0">
                          <a:solidFill>
                            <a:srgbClr val="182F3B"/>
                          </a:solidFill>
                          <a:latin typeface="Arial"/>
                          <a:ea typeface="Arial"/>
                          <a:cs typeface="Arial"/>
                        </a:rPr>
                        <a:t>Veröffentlichte Baselines</a:t>
                      </a:r>
                    </a:p>
                  </a:txBody>
                  <a:tcPr marL="91440" marR="91440" marT="45720" marB="45720" anchor="ctr">
                    <a:solidFill>
                      <a:srgbClr val="F0F4F5"/>
                    </a:solidFill>
                  </a:tcPr>
                </a:tc>
              </a:tr>
              <a:tr h="609600">
                <a:tc>
                  <a:txBody>
                    <a:bodyPr lIns="152400" tIns="95250" rIns="152400" bIns="95250">
                      <a:noAutofit/>
                    </a:bodyPr>
                    <a:lstStyle/>
                    <a:p>
                      <a:r>
                        <a:rPr sz="1800" b="0">
                          <a:solidFill>
                            <a:srgbClr val="182F3B"/>
                          </a:solidFill>
                          <a:latin typeface="Arial"/>
                          <a:ea typeface="Arial"/>
                          <a:cs typeface="Arial"/>
                        </a:rPr>
                        <a:t>status/ und generated/</a:t>
                      </a:r>
                    </a:p>
                  </a:txBody>
                  <a:tcPr marL="91440" marR="91440" marT="45720" marB="45720" anchor="ctr">
                    <a:solidFill>
                      <a:srgbClr val="FFFFFF"/>
                    </a:solidFill>
                  </a:tcPr>
                </a:tc>
                <a:tc>
                  <a:txBody>
                    <a:bodyPr lIns="152400" tIns="95250" rIns="152400" bIns="95250">
                      <a:noAutofit/>
                    </a:bodyPr>
                    <a:lstStyle/>
                    <a:p>
                      <a:r>
                        <a:rPr sz="1800" b="0">
                          <a:solidFill>
                            <a:srgbClr val="182F3B"/>
                          </a:solidFill>
                          <a:latin typeface="Arial"/>
                          <a:ea typeface="Arial"/>
                          <a:cs typeface="Arial"/>
                        </a:rPr>
                        <a:t>Ergebnisgeschichte, abgeleitete Berichte und Viewer</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231923C-0327-4F39-B46F-3DCE8CFA3A99}"/>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11. September 2026     4 / 16</a:t>
            </a:r>
          </a:p>
        </p:txBody>
      </p:sp>
    </p:spTree>
    <p:extLst>
      <p:ext uri="{BB962C8B-B14F-4D97-AF65-F5344CB8AC3E}">
        <p14:creationId xmlns:p14="http://schemas.microsoft.com/office/powerpoint/2010/main" val="21161730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3C226D5-5571-4FB2-BE62-A46E16675B9F}"/>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Aufnahme und Änderung von Vorgaben</a:t>
            </a:r>
          </a:p>
        </p:txBody>
      </p:sp>
      <p:sp>
        <p:nvSpPr>
          <p:cNvPr id="2" name="">
            <a:extLst xmlns:a="http://schemas.openxmlformats.org/drawingml/2006/main">
              <a:ext uri="{FF2B5EF4-FFF2-40B4-BE49-F238E27FC236}">
                <a16:creationId xmlns:a16="http://schemas.microsoft.com/office/drawing/2014/main" id="{49B8FD6E-13B9-4DB1-8587-E68CA8AECF45}"/>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Ein neues Dokument löst zunächst eine fachliche Entscheidung aus.</a:t>
            </a:r>
          </a:p>
        </p:txBody>
      </p:sp>
      <p:sp>
        <p:nvSpPr>
          <p:cNvPr id="3" name="">
            <a:extLst xmlns:a="http://schemas.openxmlformats.org/drawingml/2006/main">
              <a:ext uri="{FF2B5EF4-FFF2-40B4-BE49-F238E27FC236}">
                <a16:creationId xmlns:a16="http://schemas.microsoft.com/office/drawing/2014/main" id="{2A67DC04-2904-41BB-92F0-FD8354BA20C5}"/>
              </a:ext>
            </a:extLst>
          </p:cNvPr>
          <p:cNvSpPr>
            <a:spLocks xmlns:a="http://schemas.openxmlformats.org/drawingml/2006/main" noGrp="1"/>
          </p:cNvSpPr>
          <p:nvPr/>
        </p:nvSpPr>
        <p:spPr>
          <a:xfrm xmlns:a="http://schemas.openxmlformats.org/drawingml/2006/main">
            <a:off x="762000" y="2381250"/>
            <a:ext cx="2743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01  Einordnen</a:t>
            </a:r>
          </a:p>
        </p:txBody>
      </p:sp>
      <p:sp>
        <p:nvSpPr>
          <p:cNvPr id="4" name="">
            <a:extLst xmlns:a="http://schemas.openxmlformats.org/drawingml/2006/main">
              <a:ext uri="{FF2B5EF4-FFF2-40B4-BE49-F238E27FC236}">
                <a16:creationId xmlns:a16="http://schemas.microsoft.com/office/drawing/2014/main" id="{DC45E6FD-55FB-416F-BFBE-27DBF04D6C32}"/>
              </a:ext>
            </a:extLst>
          </p:cNvPr>
          <p:cNvSpPr>
            <a:spLocks xmlns:a="http://schemas.openxmlformats.org/drawingml/2006/main" noGrp="1"/>
          </p:cNvSpPr>
          <p:nvPr/>
        </p:nvSpPr>
        <p:spPr>
          <a:xfrm xmlns:a="http://schemas.openxmlformats.org/drawingml/2006/main">
            <a:off x="3771900" y="2381250"/>
            <a:ext cx="7562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F3B"/>
                </a:solidFill>
                <a:latin typeface="Arial"/>
                <a:ea typeface="Arial"/>
                <a:cs typeface="Arial"/>
              </a:defRPr>
            </a:pPr>
            <a:r>
              <a:rPr sz="2025" b="0">
                <a:solidFill>
                  <a:srgbClr val="182F3B"/>
                </a:solidFill>
                <a:latin typeface="Arial"/>
                <a:ea typeface="Arial"/>
                <a:cs typeface="Arial"/>
              </a:rPr>
              <a:t>Quelle registrieren und mögliche Dublette oder Ablösung kennzeichnen.</a:t>
            </a:r>
          </a:p>
        </p:txBody>
      </p:sp>
      <p:sp>
        <p:nvSpPr>
          <p:cNvPr id="5" name="">
            <a:extLst xmlns:a="http://schemas.openxmlformats.org/drawingml/2006/main">
              <a:ext uri="{FF2B5EF4-FFF2-40B4-BE49-F238E27FC236}">
                <a16:creationId xmlns:a16="http://schemas.microsoft.com/office/drawing/2014/main" id="{5D0D036A-3724-4559-9A0A-911817758197}"/>
              </a:ext>
            </a:extLst>
          </p:cNvPr>
          <p:cNvSpPr>
            <a:spLocks xmlns:a="http://schemas.openxmlformats.org/drawingml/2006/main" noGrp="1"/>
          </p:cNvSpPr>
          <p:nvPr/>
        </p:nvSpPr>
        <p:spPr>
          <a:xfrm xmlns:a="http://schemas.openxmlformats.org/drawingml/2006/main">
            <a:off x="762000" y="3276600"/>
            <a:ext cx="2743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02  Entscheiden</a:t>
            </a:r>
          </a:p>
        </p:txBody>
      </p:sp>
      <p:sp>
        <p:nvSpPr>
          <p:cNvPr id="6" name="">
            <a:extLst xmlns:a="http://schemas.openxmlformats.org/drawingml/2006/main">
              <a:ext uri="{FF2B5EF4-FFF2-40B4-BE49-F238E27FC236}">
                <a16:creationId xmlns:a16="http://schemas.microsoft.com/office/drawing/2014/main" id="{68D6E73A-F2FB-4EE7-8510-AB985E3EFC5B}"/>
              </a:ext>
            </a:extLst>
          </p:cNvPr>
          <p:cNvSpPr>
            <a:spLocks xmlns:a="http://schemas.openxmlformats.org/drawingml/2006/main" noGrp="1"/>
          </p:cNvSpPr>
          <p:nvPr/>
        </p:nvSpPr>
        <p:spPr>
          <a:xfrm xmlns:a="http://schemas.openxmlformats.org/drawingml/2006/main">
            <a:off x="3771900" y="3276600"/>
            <a:ext cx="7562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F3B"/>
                </a:solidFill>
                <a:latin typeface="Arial"/>
                <a:ea typeface="Arial"/>
                <a:cs typeface="Arial"/>
              </a:defRPr>
            </a:pPr>
            <a:r>
              <a:rPr sz="2025" b="0">
                <a:solidFill>
                  <a:srgbClr val="182F3B"/>
                </a:solidFill>
                <a:latin typeface="Arial"/>
                <a:ea typeface="Arial"/>
                <a:cs typeface="Arial"/>
              </a:rPr>
              <a:t>Kandidaten prüfen, Entscheidung festhalten und Auswirkungen bestimmen.</a:t>
            </a:r>
          </a:p>
        </p:txBody>
      </p:sp>
      <p:sp>
        <p:nvSpPr>
          <p:cNvPr id="7" name="">
            <a:extLst xmlns:a="http://schemas.openxmlformats.org/drawingml/2006/main">
              <a:ext uri="{FF2B5EF4-FFF2-40B4-BE49-F238E27FC236}">
                <a16:creationId xmlns:a16="http://schemas.microsoft.com/office/drawing/2014/main" id="{E13B75B9-1FFF-43C2-B299-1B33049A76F3}"/>
              </a:ext>
            </a:extLst>
          </p:cNvPr>
          <p:cNvSpPr>
            <a:spLocks xmlns:a="http://schemas.openxmlformats.org/drawingml/2006/main" noGrp="1"/>
          </p:cNvSpPr>
          <p:nvPr/>
        </p:nvSpPr>
        <p:spPr>
          <a:xfrm xmlns:a="http://schemas.openxmlformats.org/drawingml/2006/main">
            <a:off x="762000" y="4171950"/>
            <a:ext cx="2743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03  Umsetzen</a:t>
            </a:r>
          </a:p>
        </p:txBody>
      </p:sp>
      <p:sp>
        <p:nvSpPr>
          <p:cNvPr id="8" name="">
            <a:extLst xmlns:a="http://schemas.openxmlformats.org/drawingml/2006/main">
              <a:ext uri="{FF2B5EF4-FFF2-40B4-BE49-F238E27FC236}">
                <a16:creationId xmlns:a16="http://schemas.microsoft.com/office/drawing/2014/main" id="{AAA60F45-93ED-4B0E-849E-CF8A9412620E}"/>
              </a:ext>
            </a:extLst>
          </p:cNvPr>
          <p:cNvSpPr>
            <a:spLocks xmlns:a="http://schemas.openxmlformats.org/drawingml/2006/main" noGrp="1"/>
          </p:cNvSpPr>
          <p:nvPr/>
        </p:nvSpPr>
        <p:spPr>
          <a:xfrm xmlns:a="http://schemas.openxmlformats.org/drawingml/2006/main">
            <a:off x="3771900" y="4171950"/>
            <a:ext cx="7562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F3B"/>
                </a:solidFill>
                <a:latin typeface="Arial"/>
                <a:ea typeface="Arial"/>
                <a:cs typeface="Arial"/>
              </a:defRPr>
            </a:pPr>
            <a:r>
              <a:rPr sz="2025" b="0">
                <a:solidFill>
                  <a:srgbClr val="182F3B"/>
                </a:solidFill>
                <a:latin typeface="Arial"/>
                <a:ea typeface="Arial"/>
                <a:cs typeface="Arial"/>
              </a:rPr>
              <a:t>Betroffene Modelle, Regeln und Nachweisverträge gezielt anpassen.</a:t>
            </a:r>
          </a:p>
        </p:txBody>
      </p:sp>
      <p:sp>
        <p:nvSpPr>
          <p:cNvPr id="9" name="">
            <a:extLst xmlns:a="http://schemas.openxmlformats.org/drawingml/2006/main">
              <a:ext uri="{FF2B5EF4-FFF2-40B4-BE49-F238E27FC236}">
                <a16:creationId xmlns:a16="http://schemas.microsoft.com/office/drawing/2014/main" id="{8FB13071-EF5C-49B0-B96B-2836020423B1}"/>
              </a:ext>
            </a:extLst>
          </p:cNvPr>
          <p:cNvSpPr>
            <a:spLocks xmlns:a="http://schemas.openxmlformats.org/drawingml/2006/main" noGrp="1"/>
          </p:cNvSpPr>
          <p:nvPr/>
        </p:nvSpPr>
        <p:spPr>
          <a:xfrm xmlns:a="http://schemas.openxmlformats.org/drawingml/2006/main">
            <a:off x="762000" y="5067300"/>
            <a:ext cx="2743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04  Freigeben</a:t>
            </a:r>
          </a:p>
        </p:txBody>
      </p:sp>
      <p:sp>
        <p:nvSpPr>
          <p:cNvPr id="10" name="">
            <a:extLst xmlns:a="http://schemas.openxmlformats.org/drawingml/2006/main">
              <a:ext uri="{FF2B5EF4-FFF2-40B4-BE49-F238E27FC236}">
                <a16:creationId xmlns:a16="http://schemas.microsoft.com/office/drawing/2014/main" id="{2DEE1B21-1CD0-469D-8572-361BCA76E7B6}"/>
              </a:ext>
            </a:extLst>
          </p:cNvPr>
          <p:cNvSpPr>
            <a:spLocks xmlns:a="http://schemas.openxmlformats.org/drawingml/2006/main" noGrp="1"/>
          </p:cNvSpPr>
          <p:nvPr/>
        </p:nvSpPr>
        <p:spPr>
          <a:xfrm xmlns:a="http://schemas.openxmlformats.org/drawingml/2006/main">
            <a:off x="3771900" y="5067300"/>
            <a:ext cx="7562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F3B"/>
                </a:solidFill>
                <a:latin typeface="Arial"/>
                <a:ea typeface="Arial"/>
                <a:cs typeface="Arial"/>
              </a:defRPr>
            </a:pPr>
            <a:r>
              <a:rPr sz="2025" b="0">
                <a:solidFill>
                  <a:srgbClr val="182F3B"/>
                </a:solidFill>
                <a:latin typeface="Arial"/>
                <a:ea typeface="Arial"/>
                <a:cs typeface="Arial"/>
              </a:rPr>
              <a:t>Validierung und Review abschließen, Release-Bedarf entscheiden.</a:t>
            </a:r>
          </a:p>
        </p:txBody>
      </p:sp>
      <p:sp>
        <p:nvSpPr>
          <p:cNvPr id="11" name="">
            <a:extLst xmlns:a="http://schemas.openxmlformats.org/drawingml/2006/main">
              <a:ext uri="{FF2B5EF4-FFF2-40B4-BE49-F238E27FC236}">
                <a16:creationId xmlns:a16="http://schemas.microsoft.com/office/drawing/2014/main" id="{DF49FCAF-600A-4356-B018-86CFA3E257F9}"/>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11. September 2026     5 / 16</a:t>
            </a:r>
          </a:p>
        </p:txBody>
      </p:sp>
    </p:spTree>
    <p:extLst>
      <p:ext uri="{BB962C8B-B14F-4D97-AF65-F5344CB8AC3E}">
        <p14:creationId xmlns:p14="http://schemas.microsoft.com/office/powerpoint/2010/main" val="20445464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6C82EF0-9304-458E-B293-5F7901C710E5}"/>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Eine Anforderung als ausführbare Kontrolle</a:t>
            </a:r>
          </a:p>
        </p:txBody>
      </p:sp>
      <p:sp>
        <p:nvSpPr>
          <p:cNvPr id="2" name="">
            <a:extLst xmlns:a="http://schemas.openxmlformats.org/drawingml/2006/main">
              <a:ext uri="{FF2B5EF4-FFF2-40B4-BE49-F238E27FC236}">
                <a16:creationId xmlns:a16="http://schemas.microsoft.com/office/drawing/2014/main" id="{D250C1B8-1302-41DC-995F-774A77F12FCD}"/>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Beispiel DSCB-L1-REQ-006: Eine SBOM dokumentiert die Software-Komponenten.</a:t>
            </a:r>
          </a:p>
        </p:txBody>
      </p:sp>
      <p:sp>
        <p:nvSpPr>
          <p:cNvPr id="3" name="">
            <a:extLst xmlns:a="http://schemas.openxmlformats.org/drawingml/2006/main">
              <a:ext uri="{FF2B5EF4-FFF2-40B4-BE49-F238E27FC236}">
                <a16:creationId xmlns:a16="http://schemas.microsoft.com/office/drawing/2014/main" id="{E1BD717D-4465-4129-A944-2A21CB569521}"/>
              </a:ext>
            </a:extLst>
          </p:cNvPr>
          <p:cNvSpPr>
            <a:spLocks xmlns:a="http://schemas.openxmlformats.org/drawingml/2006/main" noGrp="1"/>
          </p:cNvSpPr>
          <p:nvPr/>
        </p:nvSpPr>
        <p:spPr>
          <a:xfrm xmlns:a="http://schemas.openxmlformats.org/drawingml/2006/main">
            <a:off x="762000" y="249555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Vorgabe</a:t>
            </a:r>
          </a:p>
        </p:txBody>
      </p:sp>
      <p:sp>
        <p:nvSpPr>
          <p:cNvPr id="4" name="">
            <a:extLst xmlns:a="http://schemas.openxmlformats.org/drawingml/2006/main">
              <a:ext uri="{FF2B5EF4-FFF2-40B4-BE49-F238E27FC236}">
                <a16:creationId xmlns:a16="http://schemas.microsoft.com/office/drawing/2014/main" id="{009F682E-539E-41C4-B335-8754ABE3F59F}"/>
              </a:ext>
            </a:extLst>
          </p:cNvPr>
          <p:cNvSpPr>
            <a:spLocks xmlns:a="http://schemas.openxmlformats.org/drawingml/2006/main" noGrp="1"/>
          </p:cNvSpPr>
          <p:nvPr/>
        </p:nvSpPr>
        <p:spPr>
          <a:xfrm xmlns:a="http://schemas.openxmlformats.org/drawingml/2006/main">
            <a:off x="3695700" y="249555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Für auslieferbare Artefakte muss eine Komponentenliste entstehen.</a:t>
            </a:r>
          </a:p>
        </p:txBody>
      </p:sp>
      <p:sp>
        <p:nvSpPr>
          <p:cNvPr id="5" name="">
            <a:extLst xmlns:a="http://schemas.openxmlformats.org/drawingml/2006/main">
              <a:ext uri="{FF2B5EF4-FFF2-40B4-BE49-F238E27FC236}">
                <a16:creationId xmlns:a16="http://schemas.microsoft.com/office/drawing/2014/main" id="{4614DE8D-9EDC-4F80-8A4B-4121281F0468}"/>
              </a:ext>
            </a:extLst>
          </p:cNvPr>
          <p:cNvSpPr>
            <a:spLocks xmlns:a="http://schemas.openxmlformats.org/drawingml/2006/main" noGrp="1"/>
          </p:cNvSpPr>
          <p:nvPr/>
        </p:nvSpPr>
        <p:spPr>
          <a:xfrm xmlns:a="http://schemas.openxmlformats.org/drawingml/2006/main">
            <a:off x="762000" y="3590925"/>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Kontrollmodell</a:t>
            </a:r>
          </a:p>
        </p:txBody>
      </p:sp>
      <p:sp>
        <p:nvSpPr>
          <p:cNvPr id="6" name="">
            <a:extLst xmlns:a="http://schemas.openxmlformats.org/drawingml/2006/main">
              <a:ext uri="{FF2B5EF4-FFF2-40B4-BE49-F238E27FC236}">
                <a16:creationId xmlns:a16="http://schemas.microsoft.com/office/drawing/2014/main" id="{1D2F1DAC-64BC-45CF-ABC7-2886CA075D21}"/>
              </a:ext>
            </a:extLst>
          </p:cNvPr>
          <p:cNvSpPr>
            <a:spLocks xmlns:a="http://schemas.openxmlformats.org/drawingml/2006/main" noGrp="1"/>
          </p:cNvSpPr>
          <p:nvPr/>
        </p:nvSpPr>
        <p:spPr>
          <a:xfrm xmlns:a="http://schemas.openxmlformats.org/drawingml/2006/main">
            <a:off x="3695700" y="3590925"/>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Die Kontroll-ID verbindet Ziel, Nachweise und die zugehörige Policy.</a:t>
            </a:r>
          </a:p>
        </p:txBody>
      </p:sp>
      <p:sp>
        <p:nvSpPr>
          <p:cNvPr id="7" name="">
            <a:extLst xmlns:a="http://schemas.openxmlformats.org/drawingml/2006/main">
              <a:ext uri="{FF2B5EF4-FFF2-40B4-BE49-F238E27FC236}">
                <a16:creationId xmlns:a16="http://schemas.microsoft.com/office/drawing/2014/main" id="{367AD0AC-04FC-412D-B5A2-5F76F64F5FD1}"/>
              </a:ext>
            </a:extLst>
          </p:cNvPr>
          <p:cNvSpPr>
            <a:spLocks xmlns:a="http://schemas.openxmlformats.org/drawingml/2006/main" noGrp="1"/>
          </p:cNvSpPr>
          <p:nvPr/>
        </p:nvSpPr>
        <p:spPr>
          <a:xfrm xmlns:a="http://schemas.openxmlformats.org/drawingml/2006/main">
            <a:off x="762000" y="468630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Prüfregel</a:t>
            </a:r>
          </a:p>
        </p:txBody>
      </p:sp>
      <p:sp>
        <p:nvSpPr>
          <p:cNvPr id="8" name="">
            <a:extLst xmlns:a="http://schemas.openxmlformats.org/drawingml/2006/main">
              <a:ext uri="{FF2B5EF4-FFF2-40B4-BE49-F238E27FC236}">
                <a16:creationId xmlns:a16="http://schemas.microsoft.com/office/drawing/2014/main" id="{3363E192-D0FC-4286-9C48-136452302386}"/>
              </a:ext>
            </a:extLst>
          </p:cNvPr>
          <p:cNvSpPr>
            <a:spLocks xmlns:a="http://schemas.openxmlformats.org/drawingml/2006/main" noGrp="1"/>
          </p:cNvSpPr>
          <p:nvPr/>
        </p:nvSpPr>
        <p:spPr>
          <a:xfrm xmlns:a="http://schemas.openxmlformats.org/drawingml/2006/main">
            <a:off x="3695700" y="468630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sbom_required.rego prüft die Existenz und die Zuordnung zum Artefakt.</a:t>
            </a:r>
          </a:p>
        </p:txBody>
      </p:sp>
      <p:sp>
        <p:nvSpPr>
          <p:cNvPr id="9" name="">
            <a:extLst xmlns:a="http://schemas.openxmlformats.org/drawingml/2006/main">
              <a:ext uri="{FF2B5EF4-FFF2-40B4-BE49-F238E27FC236}">
                <a16:creationId xmlns:a16="http://schemas.microsoft.com/office/drawing/2014/main" id="{31B47363-8453-4CA7-8DCA-92E8A2586EA0}"/>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11. September 2026     6 / 16</a:t>
            </a:r>
          </a:p>
        </p:txBody>
      </p:sp>
    </p:spTree>
    <p:extLst>
      <p:ext uri="{BB962C8B-B14F-4D97-AF65-F5344CB8AC3E}">
        <p14:creationId xmlns:p14="http://schemas.microsoft.com/office/powerpoint/2010/main" val="16365838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A513FA7-01FA-45BA-A687-E905D2141C14}"/>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Die SBOM-Prüfung im Detail</a:t>
            </a:r>
          </a:p>
        </p:txBody>
      </p:sp>
      <p:sp>
        <p:nvSpPr>
          <p:cNvPr id="2" name="">
            <a:extLst xmlns:a="http://schemas.openxmlformats.org/drawingml/2006/main">
              <a:ext uri="{FF2B5EF4-FFF2-40B4-BE49-F238E27FC236}">
                <a16:creationId xmlns:a16="http://schemas.microsoft.com/office/drawing/2014/main" id="{FE1491CA-8283-44EE-B6EF-1172B9CD5961}"/>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Die folgenden Fälle gelten für release_candidate = true.</a:t>
            </a:r>
          </a:p>
        </p:txBody>
      </p:sp>
      <p:graphicFrame>
        <p:nvGraphicFramePr>
          <p:cNvPr id="7" name=""/>
          <p:cNvGraphicFramePr/>
          <p:nvPr/>
        </p:nvGraphicFramePr>
        <p:xfrm>
          <a:off xmlns:a="http://schemas.openxmlformats.org/drawingml/2006/main" x="742950" y="2343150"/>
          <a:ext xmlns:a="http://schemas.openxmlformats.org/drawingml/2006/main" cx="10706100" cy="3524250"/>
        </p:xfrm>
        <a:graphic xmlns:a="http://schemas.openxmlformats.org/drawingml/2006/main">
          <a:graphicData uri="http://schemas.openxmlformats.org/drawingml/2006/table">
            <a:tbl>
              <a:tblPr firstRow="1" bandRow="0"/>
              <a:tblGrid>
                <a:gridCol w="3905250"/>
                <a:gridCol w="6800850"/>
              </a:tblGrid>
              <a:tr h="533400">
                <a:tc>
                  <a:txBody>
                    <a:bodyPr lIns="152400" tIns="95250" rIns="152400" bIns="95250">
                      <a:noAutofit/>
                    </a:bodyPr>
                    <a:lstStyle/>
                    <a:p>
                      <a:r>
                        <a:rPr sz="1800" b="1">
                          <a:solidFill>
                            <a:srgbClr val="FFFFFF"/>
                          </a:solidFill>
                          <a:latin typeface="Arial"/>
                          <a:ea typeface="Arial"/>
                          <a:cs typeface="Arial"/>
                        </a:rPr>
                        <a:t>Übergebene Angaben</a:t>
                      </a:r>
                    </a:p>
                  </a:txBody>
                  <a:tcPr marL="91440" marR="91440" marT="45720" marB="45720" anchor="ctr">
                    <a:solidFill>
                      <a:srgbClr val="16394A"/>
                    </a:solidFill>
                  </a:tcPr>
                </a:tc>
                <a:tc>
                  <a:txBody>
                    <a:bodyPr lIns="152400" tIns="95250" rIns="152400" bIns="95250">
                      <a:noAutofit/>
                    </a:bodyPr>
                    <a:lstStyle/>
                    <a:p>
                      <a:r>
                        <a:rPr sz="1800" b="1">
                          <a:solidFill>
                            <a:srgbClr val="FFFFFF"/>
                          </a:solidFill>
                          <a:latin typeface="Arial"/>
                          <a:ea typeface="Arial"/>
                          <a:cs typeface="Arial"/>
                        </a:rPr>
                        <a:t>Ergebnis dieser Policy</a:t>
                      </a:r>
                    </a:p>
                  </a:txBody>
                  <a:tcPr marL="91440" marR="91440" marT="45720" marB="45720" anchor="ctr">
                    <a:solidFill>
                      <a:srgbClr val="16394A"/>
                    </a:solidFill>
                  </a:tcPr>
                </a:tc>
              </a:tr>
              <a:tr h="838200">
                <a:tc>
                  <a:txBody>
                    <a:bodyPr lIns="152400" tIns="95250" rIns="152400" bIns="95250">
                      <a:noAutofit/>
                    </a:bodyPr>
                    <a:lstStyle/>
                    <a:p>
                      <a:r>
                        <a:rPr sz="1800" b="0">
                          <a:solidFill>
                            <a:srgbClr val="182F3B"/>
                          </a:solidFill>
                          <a:latin typeface="Arial"/>
                          <a:ea typeface="Arial"/>
                          <a:cs typeface="Arial"/>
                        </a:rPr>
                        <a:t>exists = false</a:t>
                      </a:r>
                    </a:p>
                  </a:txBody>
                  <a:tcPr marL="91440" marR="91440" marT="45720" marB="45720" anchor="ctr">
                    <a:solidFill>
                      <a:srgbClr val="FFFFFF"/>
                    </a:solidFill>
                  </a:tcPr>
                </a:tc>
                <a:tc>
                  <a:txBody>
                    <a:bodyPr lIns="152400" tIns="95250" rIns="152400" bIns="95250">
                      <a:noAutofit/>
                    </a:bodyPr>
                    <a:lstStyle/>
                    <a:p>
                      <a:r>
                        <a:rPr sz="1800" b="0">
                          <a:solidFill>
                            <a:srgbClr val="182F3B"/>
                          </a:solidFill>
                          <a:latin typeface="Arial"/>
                          <a:ea typeface="Arial"/>
                          <a:cs typeface="Arial"/>
                        </a:rPr>
                        <a:t>Befund: Die SBOM fehlt.</a:t>
                      </a:r>
                    </a:p>
                  </a:txBody>
                  <a:tcPr marL="91440" marR="91440" marT="45720" marB="45720" anchor="ctr">
                    <a:solidFill>
                      <a:srgbClr val="FFFFFF"/>
                    </a:solidFill>
                  </a:tcPr>
                </a:tc>
              </a:tr>
              <a:tr h="838200">
                <a:tc>
                  <a:txBody>
                    <a:bodyPr lIns="152400" tIns="95250" rIns="152400" bIns="95250">
                      <a:noAutofit/>
                    </a:bodyPr>
                    <a:lstStyle/>
                    <a:p>
                      <a:r>
                        <a:rPr sz="1800" b="0">
                          <a:solidFill>
                            <a:srgbClr val="182F3B"/>
                          </a:solidFill>
                          <a:latin typeface="Arial"/>
                          <a:ea typeface="Arial"/>
                          <a:cs typeface="Arial"/>
                        </a:rPr>
                        <a:t>exists = true</a:t>
                      </a:r>
                    </a:p>
                    <a:p>
                      <a:r>
                        <a:rPr sz="1800" b="0">
                          <a:solidFill>
                            <a:srgbClr val="182F3B"/>
                          </a:solidFill>
                          <a:latin typeface="Arial"/>
                          <a:ea typeface="Arial"/>
                          <a:cs typeface="Arial"/>
                        </a:rPr>
                        <a:t>linked_to_artifact = false</a:t>
                      </a:r>
                    </a:p>
                  </a:txBody>
                  <a:tcPr marL="91440" marR="91440" marT="45720" marB="45720" anchor="ctr">
                    <a:solidFill>
                      <a:srgbClr val="F0F4F5"/>
                    </a:solidFill>
                  </a:tcPr>
                </a:tc>
                <a:tc>
                  <a:txBody>
                    <a:bodyPr lIns="152400" tIns="95250" rIns="152400" bIns="95250">
                      <a:noAutofit/>
                    </a:bodyPr>
                    <a:lstStyle/>
                    <a:p>
                      <a:r>
                        <a:rPr sz="1800" b="0">
                          <a:solidFill>
                            <a:srgbClr val="182F3B"/>
                          </a:solidFill>
                          <a:latin typeface="Arial"/>
                          <a:ea typeface="Arial"/>
                          <a:cs typeface="Arial"/>
                        </a:rPr>
                        <a:t>Befund: Die Zuordnung zum Artefakt fehlt.</a:t>
                      </a:r>
                    </a:p>
                  </a:txBody>
                  <a:tcPr marL="91440" marR="91440" marT="45720" marB="45720" anchor="ctr">
                    <a:solidFill>
                      <a:srgbClr val="F0F4F5"/>
                    </a:solidFill>
                  </a:tcPr>
                </a:tc>
              </a:tr>
              <a:tr h="838200">
                <a:tc>
                  <a:txBody>
                    <a:bodyPr lIns="152400" tIns="95250" rIns="152400" bIns="95250">
                      <a:noAutofit/>
                    </a:bodyPr>
                    <a:lstStyle/>
                    <a:p>
                      <a:r>
                        <a:rPr sz="1800" b="0">
                          <a:solidFill>
                            <a:srgbClr val="182F3B"/>
                          </a:solidFill>
                          <a:latin typeface="Arial"/>
                          <a:ea typeface="Arial"/>
                          <a:cs typeface="Arial"/>
                        </a:rPr>
                        <a:t>exists = true</a:t>
                      </a:r>
                    </a:p>
                    <a:p>
                      <a:r>
                        <a:rPr sz="1800" b="0">
                          <a:solidFill>
                            <a:srgbClr val="182F3B"/>
                          </a:solidFill>
                          <a:latin typeface="Arial"/>
                          <a:ea typeface="Arial"/>
                          <a:cs typeface="Arial"/>
                        </a:rPr>
                        <a:t>linked_to_artifact = true</a:t>
                      </a:r>
                    </a:p>
                  </a:txBody>
                  <a:tcPr marL="91440" marR="91440" marT="45720" marB="45720" anchor="ctr">
                    <a:solidFill>
                      <a:srgbClr val="FFFFFF"/>
                    </a:solidFill>
                  </a:tcPr>
                </a:tc>
                <a:tc>
                  <a:txBody>
                    <a:bodyPr lIns="152400" tIns="95250" rIns="152400" bIns="95250">
                      <a:noAutofit/>
                    </a:bodyPr>
                    <a:lstStyle/>
                    <a:p>
                      <a:r>
                        <a:rPr sz="1800" b="0">
                          <a:solidFill>
                            <a:srgbClr val="182F3B"/>
                          </a:solidFill>
                          <a:latin typeface="Arial"/>
                          <a:ea typeface="Arial"/>
                          <a:cs typeface="Arial"/>
                        </a:rPr>
                        <a:t>Kein SBOM-Befund aus dieser Regel.</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6A9FC87-1B2B-4A3E-B4D8-B0A6B1C2BA16}"/>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11. September 2026     7 / 16</a:t>
            </a:r>
          </a:p>
        </p:txBody>
      </p:sp>
    </p:spTree>
    <p:extLst>
      <p:ext uri="{BB962C8B-B14F-4D97-AF65-F5344CB8AC3E}">
        <p14:creationId xmlns:p14="http://schemas.microsoft.com/office/powerpoint/2010/main" val="7528090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57CC48-7A30-47A9-9B42-ABBED375F059}"/>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Baselines legen den Prüfstand fest</a:t>
            </a:r>
          </a:p>
        </p:txBody>
      </p:sp>
      <p:sp>
        <p:nvSpPr>
          <p:cNvPr id="2" name="">
            <a:extLst xmlns:a="http://schemas.openxmlformats.org/drawingml/2006/main">
              <a:ext uri="{FF2B5EF4-FFF2-40B4-BE49-F238E27FC236}">
                <a16:creationId xmlns:a16="http://schemas.microsoft.com/office/drawing/2014/main" id="{484F6772-9291-4213-8C15-ED5B87FB5462}"/>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Eine Anwendung bezieht sich auf einen veröffentlichten, identifizierbaren Regelsatz.</a:t>
            </a:r>
          </a:p>
        </p:txBody>
      </p:sp>
      <p:sp>
        <p:nvSpPr>
          <p:cNvPr id="3" name="">
            <a:extLst xmlns:a="http://schemas.openxmlformats.org/drawingml/2006/main">
              <a:ext uri="{FF2B5EF4-FFF2-40B4-BE49-F238E27FC236}">
                <a16:creationId xmlns:a16="http://schemas.microsoft.com/office/drawing/2014/main" id="{C0521A20-E018-4046-AEF9-5EAD7FA77291}"/>
              </a:ext>
            </a:extLst>
          </p:cNvPr>
          <p:cNvSpPr>
            <a:spLocks xmlns:a="http://schemas.openxmlformats.org/drawingml/2006/main" noGrp="1"/>
          </p:cNvSpPr>
          <p:nvPr/>
        </p:nvSpPr>
        <p:spPr>
          <a:xfrm xmlns:a="http://schemas.openxmlformats.org/drawingml/2006/main">
            <a:off x="762000" y="2609850"/>
            <a:ext cx="502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76B74"/>
                </a:solidFill>
                <a:latin typeface="Arial"/>
                <a:ea typeface="Arial"/>
                <a:cs typeface="Arial"/>
              </a:defRPr>
            </a:pPr>
            <a:r>
              <a:rPr sz="2700" b="1">
                <a:solidFill>
                  <a:srgbClr val="176B74"/>
                </a:solidFill>
                <a:latin typeface="Arial"/>
                <a:ea typeface="Arial"/>
                <a:cs typeface="Arial"/>
              </a:rPr>
              <a:t>DevSecOps L1</a:t>
            </a:r>
          </a:p>
        </p:txBody>
      </p:sp>
      <p:sp>
        <p:nvSpPr>
          <p:cNvPr id="4" name="">
            <a:extLst xmlns:a="http://schemas.openxmlformats.org/drawingml/2006/main">
              <a:ext uri="{FF2B5EF4-FFF2-40B4-BE49-F238E27FC236}">
                <a16:creationId xmlns:a16="http://schemas.microsoft.com/office/drawing/2014/main" id="{EA2BA38B-49B4-492E-927F-BB7595168403}"/>
              </a:ext>
            </a:extLst>
          </p:cNvPr>
          <p:cNvSpPr>
            <a:spLocks xmlns:a="http://schemas.openxmlformats.org/drawingml/2006/main" noGrp="1"/>
          </p:cNvSpPr>
          <p:nvPr/>
        </p:nvSpPr>
        <p:spPr>
          <a:xfrm xmlns:a="http://schemas.openxmlformats.org/drawingml/2006/main">
            <a:off x="762000" y="3524250"/>
            <a:ext cx="49911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l1-baseline-v1.1.3</a:t>
            </a:r>
          </a:p>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Kontrollen und Nachweise für den Software-Lieferprozess</a:t>
            </a:r>
          </a:p>
        </p:txBody>
      </p:sp>
      <p:sp>
        <p:nvSpPr>
          <p:cNvPr id="5" name="">
            <a:extLst xmlns:a="http://schemas.openxmlformats.org/drawingml/2006/main">
              <a:ext uri="{FF2B5EF4-FFF2-40B4-BE49-F238E27FC236}">
                <a16:creationId xmlns:a16="http://schemas.microsoft.com/office/drawing/2014/main" id="{030137D1-B71D-4D40-938A-AC21E74ACD5F}"/>
              </a:ext>
            </a:extLst>
          </p:cNvPr>
          <p:cNvSpPr>
            <a:spLocks xmlns:a="http://schemas.openxmlformats.org/drawingml/2006/main" noGrp="1"/>
          </p:cNvSpPr>
          <p:nvPr/>
        </p:nvSpPr>
        <p:spPr>
          <a:xfrm xmlns:a="http://schemas.openxmlformats.org/drawingml/2006/main">
            <a:off x="6419850" y="2609850"/>
            <a:ext cx="502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76B74"/>
                </a:solidFill>
                <a:latin typeface="Arial"/>
                <a:ea typeface="Arial"/>
                <a:cs typeface="Arial"/>
              </a:defRPr>
            </a:pPr>
            <a:r>
              <a:rPr sz="2700" b="1">
                <a:solidFill>
                  <a:srgbClr val="176B74"/>
                </a:solidFill>
                <a:latin typeface="Arial"/>
                <a:ea typeface="Arial"/>
                <a:cs typeface="Arial"/>
              </a:rPr>
              <a:t>Architecture L1</a:t>
            </a:r>
          </a:p>
        </p:txBody>
      </p:sp>
      <p:sp>
        <p:nvSpPr>
          <p:cNvPr id="6" name="">
            <a:extLst xmlns:a="http://schemas.openxmlformats.org/drawingml/2006/main">
              <a:ext uri="{FF2B5EF4-FFF2-40B4-BE49-F238E27FC236}">
                <a16:creationId xmlns:a16="http://schemas.microsoft.com/office/drawing/2014/main" id="{5F5ABE95-D231-4300-8F69-74D068485A56}"/>
              </a:ext>
            </a:extLst>
          </p:cNvPr>
          <p:cNvSpPr>
            <a:spLocks xmlns:a="http://schemas.openxmlformats.org/drawingml/2006/main" noGrp="1"/>
          </p:cNvSpPr>
          <p:nvPr/>
        </p:nvSpPr>
        <p:spPr>
          <a:xfrm xmlns:a="http://schemas.openxmlformats.org/drawingml/2006/main">
            <a:off x="6419850" y="3524250"/>
            <a:ext cx="49911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architecture-baseline-l1-v0.1.0</a:t>
            </a:r>
          </a:p>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Architekturmodell und Prüfungen zur Einsatzbereitschaft</a:t>
            </a:r>
          </a:p>
        </p:txBody>
      </p:sp>
      <p:sp>
        <p:nvSpPr>
          <p:cNvPr id="7" name="">
            <a:extLst xmlns:a="http://schemas.openxmlformats.org/drawingml/2006/main">
              <a:ext uri="{FF2B5EF4-FFF2-40B4-BE49-F238E27FC236}">
                <a16:creationId xmlns:a16="http://schemas.microsoft.com/office/drawing/2014/main" id="{8A4BF8F6-FC37-4E54-B13D-E10BB5D6C7F5}"/>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11. September 2026     8 / 16</a:t>
            </a:r>
          </a:p>
        </p:txBody>
      </p:sp>
    </p:spTree>
    <p:extLst>
      <p:ext uri="{BB962C8B-B14F-4D97-AF65-F5344CB8AC3E}">
        <p14:creationId xmlns:p14="http://schemas.microsoft.com/office/powerpoint/2010/main" val="14848991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B1F7C0B-0587-4675-BECF-00380A3357B9}"/>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Ausführung in der Anwendung</a:t>
            </a:r>
          </a:p>
        </p:txBody>
      </p:sp>
      <p:sp>
        <p:nvSpPr>
          <p:cNvPr id="2" name="">
            <a:extLst xmlns:a="http://schemas.openxmlformats.org/drawingml/2006/main">
              <a:ext uri="{FF2B5EF4-FFF2-40B4-BE49-F238E27FC236}">
                <a16:creationId xmlns:a16="http://schemas.microsoft.com/office/drawing/2014/main" id="{4CD1FC0F-6DF9-4921-9F08-39DE0FCFC956}"/>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Der Architektur-Workflow zeigt den Ablauf als konkretes Beispiel.</a:t>
            </a:r>
          </a:p>
        </p:txBody>
      </p:sp>
      <p:sp>
        <p:nvSpPr>
          <p:cNvPr id="3" name="">
            <a:extLst xmlns:a="http://schemas.openxmlformats.org/drawingml/2006/main">
              <a:ext uri="{FF2B5EF4-FFF2-40B4-BE49-F238E27FC236}">
                <a16:creationId xmlns:a16="http://schemas.microsoft.com/office/drawing/2014/main" id="{E91D2561-78E1-4A6E-9C43-179461C4E03D}"/>
              </a:ext>
            </a:extLst>
          </p:cNvPr>
          <p:cNvSpPr>
            <a:spLocks xmlns:a="http://schemas.openxmlformats.org/drawingml/2006/main" noGrp="1"/>
          </p:cNvSpPr>
          <p:nvPr/>
        </p:nvSpPr>
        <p:spPr>
          <a:xfrm xmlns:a="http://schemas.openxmlformats.org/drawingml/2006/main">
            <a:off x="762000" y="2381250"/>
            <a:ext cx="2743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01  Laden</a:t>
            </a:r>
          </a:p>
        </p:txBody>
      </p:sp>
      <p:sp>
        <p:nvSpPr>
          <p:cNvPr id="4" name="">
            <a:extLst xmlns:a="http://schemas.openxmlformats.org/drawingml/2006/main">
              <a:ext uri="{FF2B5EF4-FFF2-40B4-BE49-F238E27FC236}">
                <a16:creationId xmlns:a16="http://schemas.microsoft.com/office/drawing/2014/main" id="{1CC216D5-A816-44A4-873A-8E74BC86BEB2}"/>
              </a:ext>
            </a:extLst>
          </p:cNvPr>
          <p:cNvSpPr>
            <a:spLocks xmlns:a="http://schemas.openxmlformats.org/drawingml/2006/main" noGrp="1"/>
          </p:cNvSpPr>
          <p:nvPr/>
        </p:nvSpPr>
        <p:spPr>
          <a:xfrm xmlns:a="http://schemas.openxmlformats.org/drawingml/2006/main">
            <a:off x="3771900" y="2381250"/>
            <a:ext cx="7562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F3B"/>
                </a:solidFill>
                <a:latin typeface="Arial"/>
                <a:ea typeface="Arial"/>
                <a:cs typeface="Arial"/>
              </a:defRPr>
            </a:pPr>
            <a:r>
              <a:rPr sz="2025" b="0">
                <a:solidFill>
                  <a:srgbClr val="182F3B"/>
                </a:solidFill>
                <a:latin typeface="Arial"/>
                <a:ea typeface="Arial"/>
                <a:cs typeface="Arial"/>
              </a:rPr>
              <a:t>Anwendung und Governance-Baseline in getrennte Arbeitsverzeichnisse laden.</a:t>
            </a:r>
          </a:p>
        </p:txBody>
      </p:sp>
      <p:sp>
        <p:nvSpPr>
          <p:cNvPr id="5" name="">
            <a:extLst xmlns:a="http://schemas.openxmlformats.org/drawingml/2006/main">
              <a:ext uri="{FF2B5EF4-FFF2-40B4-BE49-F238E27FC236}">
                <a16:creationId xmlns:a16="http://schemas.microsoft.com/office/drawing/2014/main" id="{31F87232-28B8-4A53-9760-155D5B97F3DD}"/>
              </a:ext>
            </a:extLst>
          </p:cNvPr>
          <p:cNvSpPr>
            <a:spLocks xmlns:a="http://schemas.openxmlformats.org/drawingml/2006/main" noGrp="1"/>
          </p:cNvSpPr>
          <p:nvPr/>
        </p:nvSpPr>
        <p:spPr>
          <a:xfrm xmlns:a="http://schemas.openxmlformats.org/drawingml/2006/main">
            <a:off x="762000" y="3276600"/>
            <a:ext cx="2743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02  Sammeln</a:t>
            </a:r>
          </a:p>
        </p:txBody>
      </p:sp>
      <p:sp>
        <p:nvSpPr>
          <p:cNvPr id="6" name="">
            <a:extLst xmlns:a="http://schemas.openxmlformats.org/drawingml/2006/main">
              <a:ext uri="{FF2B5EF4-FFF2-40B4-BE49-F238E27FC236}">
                <a16:creationId xmlns:a16="http://schemas.microsoft.com/office/drawing/2014/main" id="{EE43BC12-997B-4A08-91FA-AE74995A9F68}"/>
              </a:ext>
            </a:extLst>
          </p:cNvPr>
          <p:cNvSpPr>
            <a:spLocks xmlns:a="http://schemas.openxmlformats.org/drawingml/2006/main" noGrp="1"/>
          </p:cNvSpPr>
          <p:nvPr/>
        </p:nvSpPr>
        <p:spPr>
          <a:xfrm xmlns:a="http://schemas.openxmlformats.org/drawingml/2006/main">
            <a:off x="3771900" y="3276600"/>
            <a:ext cx="7562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F3B"/>
                </a:solidFill>
                <a:latin typeface="Arial"/>
                <a:ea typeface="Arial"/>
                <a:cs typeface="Arial"/>
              </a:defRPr>
            </a:pPr>
            <a:r>
              <a:rPr sz="2025" b="0">
                <a:solidFill>
                  <a:srgbClr val="182F3B"/>
                </a:solidFill>
                <a:latin typeface="Arial"/>
                <a:ea typeface="Arial"/>
                <a:cs typeface="Arial"/>
              </a:rPr>
              <a:t>Anwendungsnachweise zu einem strukturierten Eingang zusammenstellen.</a:t>
            </a:r>
          </a:p>
        </p:txBody>
      </p:sp>
      <p:sp>
        <p:nvSpPr>
          <p:cNvPr id="7" name="">
            <a:extLst xmlns:a="http://schemas.openxmlformats.org/drawingml/2006/main">
              <a:ext uri="{FF2B5EF4-FFF2-40B4-BE49-F238E27FC236}">
                <a16:creationId xmlns:a16="http://schemas.microsoft.com/office/drawing/2014/main" id="{5417A960-F1B1-4C65-AF5F-BF63F490AF48}"/>
              </a:ext>
            </a:extLst>
          </p:cNvPr>
          <p:cNvSpPr>
            <a:spLocks xmlns:a="http://schemas.openxmlformats.org/drawingml/2006/main" noGrp="1"/>
          </p:cNvSpPr>
          <p:nvPr/>
        </p:nvSpPr>
        <p:spPr>
          <a:xfrm xmlns:a="http://schemas.openxmlformats.org/drawingml/2006/main">
            <a:off x="762000" y="4171950"/>
            <a:ext cx="2743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03  Prüfen</a:t>
            </a:r>
          </a:p>
        </p:txBody>
      </p:sp>
      <p:sp>
        <p:nvSpPr>
          <p:cNvPr id="8" name="">
            <a:extLst xmlns:a="http://schemas.openxmlformats.org/drawingml/2006/main">
              <a:ext uri="{FF2B5EF4-FFF2-40B4-BE49-F238E27FC236}">
                <a16:creationId xmlns:a16="http://schemas.microsoft.com/office/drawing/2014/main" id="{6E0E8B9A-0756-4E69-925E-5E06BEDBDEC2}"/>
              </a:ext>
            </a:extLst>
          </p:cNvPr>
          <p:cNvSpPr>
            <a:spLocks xmlns:a="http://schemas.openxmlformats.org/drawingml/2006/main" noGrp="1"/>
          </p:cNvSpPr>
          <p:nvPr/>
        </p:nvSpPr>
        <p:spPr>
          <a:xfrm xmlns:a="http://schemas.openxmlformats.org/drawingml/2006/main">
            <a:off x="3771900" y="4171950"/>
            <a:ext cx="7562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F3B"/>
                </a:solidFill>
                <a:latin typeface="Arial"/>
                <a:ea typeface="Arial"/>
                <a:cs typeface="Arial"/>
              </a:defRPr>
            </a:pPr>
            <a:r>
              <a:rPr sz="2025" b="0">
                <a:solidFill>
                  <a:srgbClr val="182F3B"/>
                </a:solidFill>
                <a:latin typeface="Arial"/>
                <a:ea typeface="Arial"/>
                <a:cs typeface="Arial"/>
              </a:rPr>
              <a:t>Schema validieren und den Governance-Bericht erzeugen.</a:t>
            </a:r>
          </a:p>
        </p:txBody>
      </p:sp>
      <p:sp>
        <p:nvSpPr>
          <p:cNvPr id="9" name="">
            <a:extLst xmlns:a="http://schemas.openxmlformats.org/drawingml/2006/main">
              <a:ext uri="{FF2B5EF4-FFF2-40B4-BE49-F238E27FC236}">
                <a16:creationId xmlns:a16="http://schemas.microsoft.com/office/drawing/2014/main" id="{F8F8FF3E-B154-4139-9E20-12323FDC9251}"/>
              </a:ext>
            </a:extLst>
          </p:cNvPr>
          <p:cNvSpPr>
            <a:spLocks xmlns:a="http://schemas.openxmlformats.org/drawingml/2006/main" noGrp="1"/>
          </p:cNvSpPr>
          <p:nvPr/>
        </p:nvSpPr>
        <p:spPr>
          <a:xfrm xmlns:a="http://schemas.openxmlformats.org/drawingml/2006/main">
            <a:off x="762000" y="5067300"/>
            <a:ext cx="2743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04  Bereitstellen</a:t>
            </a:r>
          </a:p>
        </p:txBody>
      </p:sp>
      <p:sp>
        <p:nvSpPr>
          <p:cNvPr id="10" name="">
            <a:extLst xmlns:a="http://schemas.openxmlformats.org/drawingml/2006/main">
              <a:ext uri="{FF2B5EF4-FFF2-40B4-BE49-F238E27FC236}">
                <a16:creationId xmlns:a16="http://schemas.microsoft.com/office/drawing/2014/main" id="{09F8CAD4-C733-4F6F-92A3-2284AB68111F}"/>
              </a:ext>
            </a:extLst>
          </p:cNvPr>
          <p:cNvSpPr>
            <a:spLocks xmlns:a="http://schemas.openxmlformats.org/drawingml/2006/main" noGrp="1"/>
          </p:cNvSpPr>
          <p:nvPr/>
        </p:nvSpPr>
        <p:spPr>
          <a:xfrm xmlns:a="http://schemas.openxmlformats.org/drawingml/2006/main">
            <a:off x="3771900" y="5067300"/>
            <a:ext cx="7562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F3B"/>
                </a:solidFill>
                <a:latin typeface="Arial"/>
                <a:ea typeface="Arial"/>
                <a:cs typeface="Arial"/>
              </a:defRPr>
            </a:pPr>
            <a:r>
              <a:rPr sz="2025" b="0">
                <a:solidFill>
                  <a:srgbClr val="182F3B"/>
                </a:solidFill>
                <a:latin typeface="Arial"/>
                <a:ea typeface="Arial"/>
                <a:cs typeface="Arial"/>
              </a:rPr>
              <a:t>Eingang und Berichte als Laufartefakt veröffentlichen.</a:t>
            </a:r>
          </a:p>
        </p:txBody>
      </p:sp>
      <p:sp>
        <p:nvSpPr>
          <p:cNvPr id="11" name="">
            <a:extLst xmlns:a="http://schemas.openxmlformats.org/drawingml/2006/main">
              <a:ext uri="{FF2B5EF4-FFF2-40B4-BE49-F238E27FC236}">
                <a16:creationId xmlns:a16="http://schemas.microsoft.com/office/drawing/2014/main" id="{299F7A10-7288-45F9-9479-D2B4FF2C6D1D}"/>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11. September 2026     9 / 16</a:t>
            </a:r>
          </a:p>
        </p:txBody>
      </p:sp>
    </p:spTree>
    <p:extLst>
      <p:ext uri="{BB962C8B-B14F-4D97-AF65-F5344CB8AC3E}">
        <p14:creationId xmlns:p14="http://schemas.microsoft.com/office/powerpoint/2010/main" val="3631963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E1982A-7D4E-4D23-AED2-9CE6698A4D05}"/>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DevSecOps und Architektur prüfen andere Fragen</a:t>
            </a:r>
          </a:p>
        </p:txBody>
      </p:sp>
      <p:sp>
        <p:nvSpPr>
          <p:cNvPr id="2" name="">
            <a:extLst xmlns:a="http://schemas.openxmlformats.org/drawingml/2006/main">
              <a:ext uri="{FF2B5EF4-FFF2-40B4-BE49-F238E27FC236}">
                <a16:creationId xmlns:a16="http://schemas.microsoft.com/office/drawing/2014/main" id="{D71BDEF5-4CCA-4DEB-A0B2-351B1AE04322}"/>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Die beiden Domänen ergänzen sich und behalten eigene Ergebnisse.</a:t>
            </a:r>
          </a:p>
        </p:txBody>
      </p:sp>
      <p:sp>
        <p:nvSpPr>
          <p:cNvPr id="3" name="">
            <a:extLst xmlns:a="http://schemas.openxmlformats.org/drawingml/2006/main">
              <a:ext uri="{FF2B5EF4-FFF2-40B4-BE49-F238E27FC236}">
                <a16:creationId xmlns:a16="http://schemas.microsoft.com/office/drawing/2014/main" id="{58542E28-4CC7-4A38-BFBF-DCFD8B2DA5F8}"/>
              </a:ext>
            </a:extLst>
          </p:cNvPr>
          <p:cNvSpPr>
            <a:spLocks xmlns:a="http://schemas.openxmlformats.org/drawingml/2006/main" noGrp="1"/>
          </p:cNvSpPr>
          <p:nvPr/>
        </p:nvSpPr>
        <p:spPr>
          <a:xfrm xmlns:a="http://schemas.openxmlformats.org/drawingml/2006/main">
            <a:off x="762000" y="2609850"/>
            <a:ext cx="502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76B74"/>
                </a:solidFill>
                <a:latin typeface="Arial"/>
                <a:ea typeface="Arial"/>
                <a:cs typeface="Arial"/>
              </a:defRPr>
            </a:pPr>
            <a:r>
              <a:rPr sz="2700" b="1">
                <a:solidFill>
                  <a:srgbClr val="176B74"/>
                </a:solidFill>
                <a:latin typeface="Arial"/>
                <a:ea typeface="Arial"/>
                <a:cs typeface="Arial"/>
              </a:rPr>
              <a:t>DevSecOps</a:t>
            </a:r>
          </a:p>
        </p:txBody>
      </p:sp>
      <p:sp>
        <p:nvSpPr>
          <p:cNvPr id="4" name="">
            <a:extLst xmlns:a="http://schemas.openxmlformats.org/drawingml/2006/main">
              <a:ext uri="{FF2B5EF4-FFF2-40B4-BE49-F238E27FC236}">
                <a16:creationId xmlns:a16="http://schemas.microsoft.com/office/drawing/2014/main" id="{AFD8F8FF-0AE7-4739-93C5-EDF111F622A6}"/>
              </a:ext>
            </a:extLst>
          </p:cNvPr>
          <p:cNvSpPr>
            <a:spLocks xmlns:a="http://schemas.openxmlformats.org/drawingml/2006/main" noGrp="1"/>
          </p:cNvSpPr>
          <p:nvPr/>
        </p:nvSpPr>
        <p:spPr>
          <a:xfrm xmlns:a="http://schemas.openxmlformats.org/drawingml/2006/main">
            <a:off x="762000" y="3524250"/>
            <a:ext cx="49911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Wie entstehen Software und Nachweise?</a:t>
            </a:r>
          </a:p>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Beispiele: Branch-Schutz, SBOM, Schwachstellen und Artefaktintegrität.</a:t>
            </a:r>
          </a:p>
        </p:txBody>
      </p:sp>
      <p:sp>
        <p:nvSpPr>
          <p:cNvPr id="5" name="">
            <a:extLst xmlns:a="http://schemas.openxmlformats.org/drawingml/2006/main">
              <a:ext uri="{FF2B5EF4-FFF2-40B4-BE49-F238E27FC236}">
                <a16:creationId xmlns:a16="http://schemas.microsoft.com/office/drawing/2014/main" id="{A79D8E4D-89E4-4B13-80DD-4C07C17E7F35}"/>
              </a:ext>
            </a:extLst>
          </p:cNvPr>
          <p:cNvSpPr>
            <a:spLocks xmlns:a="http://schemas.openxmlformats.org/drawingml/2006/main" noGrp="1"/>
          </p:cNvSpPr>
          <p:nvPr/>
        </p:nvSpPr>
        <p:spPr>
          <a:xfrm xmlns:a="http://schemas.openxmlformats.org/drawingml/2006/main">
            <a:off x="6419850" y="2609850"/>
            <a:ext cx="502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76B74"/>
                </a:solidFill>
                <a:latin typeface="Arial"/>
                <a:ea typeface="Arial"/>
                <a:cs typeface="Arial"/>
              </a:defRPr>
            </a:pPr>
            <a:r>
              <a:rPr sz="2700" b="1">
                <a:solidFill>
                  <a:srgbClr val="176B74"/>
                </a:solidFill>
                <a:latin typeface="Arial"/>
                <a:ea typeface="Arial"/>
                <a:cs typeface="Arial"/>
              </a:rPr>
              <a:t>Architektur</a:t>
            </a:r>
          </a:p>
        </p:txBody>
      </p:sp>
      <p:sp>
        <p:nvSpPr>
          <p:cNvPr id="6" name="">
            <a:extLst xmlns:a="http://schemas.openxmlformats.org/drawingml/2006/main">
              <a:ext uri="{FF2B5EF4-FFF2-40B4-BE49-F238E27FC236}">
                <a16:creationId xmlns:a16="http://schemas.microsoft.com/office/drawing/2014/main" id="{EDD57C52-396C-44A1-919A-DBA073D1CBB6}"/>
              </a:ext>
            </a:extLst>
          </p:cNvPr>
          <p:cNvSpPr>
            <a:spLocks xmlns:a="http://schemas.openxmlformats.org/drawingml/2006/main" noGrp="1"/>
          </p:cNvSpPr>
          <p:nvPr/>
        </p:nvSpPr>
        <p:spPr>
          <a:xfrm xmlns:a="http://schemas.openxmlformats.org/drawingml/2006/main">
            <a:off x="6419850" y="3524250"/>
            <a:ext cx="49911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Welche Voraussetzungen erfüllen Entwurf und Betrieb?</a:t>
            </a:r>
          </a:p>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Gates: Architecture, Integration, Release und Operation Readiness.</a:t>
            </a:r>
          </a:p>
        </p:txBody>
      </p:sp>
      <p:sp>
        <p:nvSpPr>
          <p:cNvPr id="7" name="">
            <a:extLst xmlns:a="http://schemas.openxmlformats.org/drawingml/2006/main">
              <a:ext uri="{FF2B5EF4-FFF2-40B4-BE49-F238E27FC236}">
                <a16:creationId xmlns:a16="http://schemas.microsoft.com/office/drawing/2014/main" id="{FBC54FF8-7107-4EBB-8FC2-3ADB1638DFEC}"/>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11. September 2026     10 / 16</a:t>
            </a:r>
          </a:p>
        </p:txBody>
      </p:sp>
    </p:spTree>
    <p:extLst>
      <p:ext uri="{BB962C8B-B14F-4D97-AF65-F5344CB8AC3E}">
        <p14:creationId xmlns:p14="http://schemas.microsoft.com/office/powerpoint/2010/main" val="58755145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C10EF3D-087D-4BCF-8BEB-E4351A322D5B}"/>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Die Aufnahme eines Ergebnisses</a:t>
            </a:r>
          </a:p>
        </p:txBody>
      </p:sp>
      <p:sp>
        <p:nvSpPr>
          <p:cNvPr id="2" name="">
            <a:extLst xmlns:a="http://schemas.openxmlformats.org/drawingml/2006/main">
              <a:ext uri="{FF2B5EF4-FFF2-40B4-BE49-F238E27FC236}">
                <a16:creationId xmlns:a16="http://schemas.microsoft.com/office/drawing/2014/main" id="{39E04DEC-C38F-4016-B651-81236DC65ACF}"/>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Ein Ereignis startet die Sammlung. Erst Review und Merge übernehmen den Stand offiziell.</a:t>
            </a:r>
          </a:p>
        </p:txBody>
      </p:sp>
      <p:sp>
        <p:nvSpPr>
          <p:cNvPr id="3" name="">
            <a:extLst xmlns:a="http://schemas.openxmlformats.org/drawingml/2006/main">
              <a:ext uri="{FF2B5EF4-FFF2-40B4-BE49-F238E27FC236}">
                <a16:creationId xmlns:a16="http://schemas.microsoft.com/office/drawing/2014/main" id="{D6CBC7A4-42C8-4DFB-9908-E4C786D5BB83}"/>
              </a:ext>
            </a:extLst>
          </p:cNvPr>
          <p:cNvSpPr>
            <a:spLocks xmlns:a="http://schemas.openxmlformats.org/drawingml/2006/main" noGrp="1"/>
          </p:cNvSpPr>
          <p:nvPr/>
        </p:nvSpPr>
        <p:spPr>
          <a:xfrm xmlns:a="http://schemas.openxmlformats.org/drawingml/2006/main">
            <a:off x="762000" y="2381250"/>
            <a:ext cx="2743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01  Auslösen</a:t>
            </a:r>
          </a:p>
        </p:txBody>
      </p:sp>
      <p:sp>
        <p:nvSpPr>
          <p:cNvPr id="4" name="">
            <a:extLst xmlns:a="http://schemas.openxmlformats.org/drawingml/2006/main">
              <a:ext uri="{FF2B5EF4-FFF2-40B4-BE49-F238E27FC236}">
                <a16:creationId xmlns:a16="http://schemas.microsoft.com/office/drawing/2014/main" id="{976A6285-AC58-4E77-B2F4-3923BAAAF159}"/>
              </a:ext>
            </a:extLst>
          </p:cNvPr>
          <p:cNvSpPr>
            <a:spLocks xmlns:a="http://schemas.openxmlformats.org/drawingml/2006/main" noGrp="1"/>
          </p:cNvSpPr>
          <p:nvPr/>
        </p:nvSpPr>
        <p:spPr>
          <a:xfrm xmlns:a="http://schemas.openxmlformats.org/drawingml/2006/main">
            <a:off x="3771900" y="2381250"/>
            <a:ext cx="7562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F3B"/>
                </a:solidFill>
                <a:latin typeface="Arial"/>
                <a:ea typeface="Arial"/>
                <a:cs typeface="Arial"/>
              </a:defRPr>
            </a:pPr>
            <a:r>
              <a:rPr sz="2025" b="0">
                <a:solidFill>
                  <a:srgbClr val="182F3B"/>
                </a:solidFill>
                <a:latin typeface="Arial"/>
                <a:ea typeface="Arial"/>
                <a:cs typeface="Arial"/>
              </a:rPr>
              <a:t>Ein Consumer meldet Repository und Lauf-ID oder ein Operator startet den Intake.</a:t>
            </a:r>
          </a:p>
        </p:txBody>
      </p:sp>
      <p:sp>
        <p:nvSpPr>
          <p:cNvPr id="5" name="">
            <a:extLst xmlns:a="http://schemas.openxmlformats.org/drawingml/2006/main">
              <a:ext uri="{FF2B5EF4-FFF2-40B4-BE49-F238E27FC236}">
                <a16:creationId xmlns:a16="http://schemas.microsoft.com/office/drawing/2014/main" id="{4497EE4D-804A-46BC-900A-14E208823294}"/>
              </a:ext>
            </a:extLst>
          </p:cNvPr>
          <p:cNvSpPr>
            <a:spLocks xmlns:a="http://schemas.openxmlformats.org/drawingml/2006/main" noGrp="1"/>
          </p:cNvSpPr>
          <p:nvPr/>
        </p:nvSpPr>
        <p:spPr>
          <a:xfrm xmlns:a="http://schemas.openxmlformats.org/drawingml/2006/main">
            <a:off x="762000" y="3276600"/>
            <a:ext cx="2743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02  Sammeln</a:t>
            </a:r>
          </a:p>
        </p:txBody>
      </p:sp>
      <p:sp>
        <p:nvSpPr>
          <p:cNvPr id="6" name="">
            <a:extLst xmlns:a="http://schemas.openxmlformats.org/drawingml/2006/main">
              <a:ext uri="{FF2B5EF4-FFF2-40B4-BE49-F238E27FC236}">
                <a16:creationId xmlns:a16="http://schemas.microsoft.com/office/drawing/2014/main" id="{9B978DE8-9F65-49EA-BA3D-820F7F56538F}"/>
              </a:ext>
            </a:extLst>
          </p:cNvPr>
          <p:cNvSpPr>
            <a:spLocks xmlns:a="http://schemas.openxmlformats.org/drawingml/2006/main" noGrp="1"/>
          </p:cNvSpPr>
          <p:nvPr/>
        </p:nvSpPr>
        <p:spPr>
          <a:xfrm xmlns:a="http://schemas.openxmlformats.org/drawingml/2006/main">
            <a:off x="3771900" y="3276600"/>
            <a:ext cx="7562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F3B"/>
                </a:solidFill>
                <a:latin typeface="Arial"/>
                <a:ea typeface="Arial"/>
                <a:cs typeface="Arial"/>
              </a:defRPr>
            </a:pPr>
            <a:r>
              <a:rPr sz="2025" b="0">
                <a:solidFill>
                  <a:srgbClr val="182F3B"/>
                </a:solidFill>
                <a:latin typeface="Arial"/>
                <a:ea typeface="Arial"/>
                <a:cs typeface="Arial"/>
              </a:rPr>
              <a:t>Der Intake lädt Laufmetadaten und Artefakte und erzeugt einen Snapshot.</a:t>
            </a:r>
          </a:p>
        </p:txBody>
      </p:sp>
      <p:sp>
        <p:nvSpPr>
          <p:cNvPr id="7" name="">
            <a:extLst xmlns:a="http://schemas.openxmlformats.org/drawingml/2006/main">
              <a:ext uri="{FF2B5EF4-FFF2-40B4-BE49-F238E27FC236}">
                <a16:creationId xmlns:a16="http://schemas.microsoft.com/office/drawing/2014/main" id="{3E80A0C4-8642-4897-B1A9-8C35FD076DEF}"/>
              </a:ext>
            </a:extLst>
          </p:cNvPr>
          <p:cNvSpPr>
            <a:spLocks xmlns:a="http://schemas.openxmlformats.org/drawingml/2006/main" noGrp="1"/>
          </p:cNvSpPr>
          <p:nvPr/>
        </p:nvSpPr>
        <p:spPr>
          <a:xfrm xmlns:a="http://schemas.openxmlformats.org/drawingml/2006/main">
            <a:off x="762000" y="4171950"/>
            <a:ext cx="2743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03  Vorschlagen</a:t>
            </a:r>
          </a:p>
        </p:txBody>
      </p:sp>
      <p:sp>
        <p:nvSpPr>
          <p:cNvPr id="8" name="">
            <a:extLst xmlns:a="http://schemas.openxmlformats.org/drawingml/2006/main">
              <a:ext uri="{FF2B5EF4-FFF2-40B4-BE49-F238E27FC236}">
                <a16:creationId xmlns:a16="http://schemas.microsoft.com/office/drawing/2014/main" id="{4A3B2E5A-9BDD-4F69-A126-63CA6DA37280}"/>
              </a:ext>
            </a:extLst>
          </p:cNvPr>
          <p:cNvSpPr>
            <a:spLocks xmlns:a="http://schemas.openxmlformats.org/drawingml/2006/main" noGrp="1"/>
          </p:cNvSpPr>
          <p:nvPr/>
        </p:nvSpPr>
        <p:spPr>
          <a:xfrm xmlns:a="http://schemas.openxmlformats.org/drawingml/2006/main">
            <a:off x="3771900" y="4171950"/>
            <a:ext cx="7562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F3B"/>
                </a:solidFill>
                <a:latin typeface="Arial"/>
                <a:ea typeface="Arial"/>
                <a:cs typeface="Arial"/>
              </a:defRPr>
            </a:pPr>
            <a:r>
              <a:rPr sz="2025" b="0">
                <a:solidFill>
                  <a:srgbClr val="182F3B"/>
                </a:solidFill>
                <a:latin typeface="Arial"/>
                <a:ea typeface="Arial"/>
                <a:cs typeface="Arial"/>
              </a:rPr>
              <a:t>Die Automation erzeugt Projektionen und eröffnet einen begrenzten Bot-PR.</a:t>
            </a:r>
          </a:p>
        </p:txBody>
      </p:sp>
      <p:sp>
        <p:nvSpPr>
          <p:cNvPr id="9" name="">
            <a:extLst xmlns:a="http://schemas.openxmlformats.org/drawingml/2006/main">
              <a:ext uri="{FF2B5EF4-FFF2-40B4-BE49-F238E27FC236}">
                <a16:creationId xmlns:a16="http://schemas.microsoft.com/office/drawing/2014/main" id="{28256F9F-A213-401F-B6AF-5B22A32D613A}"/>
              </a:ext>
            </a:extLst>
          </p:cNvPr>
          <p:cNvSpPr>
            <a:spLocks xmlns:a="http://schemas.openxmlformats.org/drawingml/2006/main" noGrp="1"/>
          </p:cNvSpPr>
          <p:nvPr/>
        </p:nvSpPr>
        <p:spPr>
          <a:xfrm xmlns:a="http://schemas.openxmlformats.org/drawingml/2006/main">
            <a:off x="762000" y="5067300"/>
            <a:ext cx="2743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04  Übernehmen</a:t>
            </a:r>
          </a:p>
        </p:txBody>
      </p:sp>
      <p:sp>
        <p:nvSpPr>
          <p:cNvPr id="10" name="">
            <a:extLst xmlns:a="http://schemas.openxmlformats.org/drawingml/2006/main">
              <a:ext uri="{FF2B5EF4-FFF2-40B4-BE49-F238E27FC236}">
                <a16:creationId xmlns:a16="http://schemas.microsoft.com/office/drawing/2014/main" id="{60DF8B43-5555-448E-B575-23BE5892AA6C}"/>
              </a:ext>
            </a:extLst>
          </p:cNvPr>
          <p:cNvSpPr>
            <a:spLocks xmlns:a="http://schemas.openxmlformats.org/drawingml/2006/main" noGrp="1"/>
          </p:cNvSpPr>
          <p:nvPr/>
        </p:nvSpPr>
        <p:spPr>
          <a:xfrm xmlns:a="http://schemas.openxmlformats.org/drawingml/2006/main">
            <a:off x="3771900" y="5067300"/>
            <a:ext cx="7562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82F3B"/>
                </a:solidFill>
                <a:latin typeface="Arial"/>
                <a:ea typeface="Arial"/>
                <a:cs typeface="Arial"/>
              </a:defRPr>
            </a:pPr>
            <a:r>
              <a:rPr sz="2025" b="0">
                <a:solidFill>
                  <a:srgbClr val="182F3B"/>
                </a:solidFill>
                <a:latin typeface="Arial"/>
                <a:ea typeface="Arial"/>
                <a:cs typeface="Arial"/>
              </a:rPr>
              <a:t>Nach Checks und Review übernimmt main die Daten für die Veröffentlichung.</a:t>
            </a:r>
          </a:p>
        </p:txBody>
      </p:sp>
      <p:sp>
        <p:nvSpPr>
          <p:cNvPr id="11" name="">
            <a:extLst xmlns:a="http://schemas.openxmlformats.org/drawingml/2006/main">
              <a:ext uri="{FF2B5EF4-FFF2-40B4-BE49-F238E27FC236}">
                <a16:creationId xmlns:a16="http://schemas.microsoft.com/office/drawing/2014/main" id="{A8733024-4452-4CF6-ABFD-5B9F9BB8797F}"/>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11. September 2026     11 / 16</a:t>
            </a:r>
          </a:p>
        </p:txBody>
      </p:sp>
    </p:spTree>
    <p:extLst>
      <p:ext uri="{BB962C8B-B14F-4D97-AF65-F5344CB8AC3E}">
        <p14:creationId xmlns:p14="http://schemas.microsoft.com/office/powerpoint/2010/main" val="13692784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5482BD1-ED67-4821-9C85-CC98721C659F}"/>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Ergebnisgeschichte und aktuelle Übersicht</a:t>
            </a:r>
          </a:p>
        </p:txBody>
      </p:sp>
      <p:sp>
        <p:nvSpPr>
          <p:cNvPr id="2" name="">
            <a:extLst xmlns:a="http://schemas.openxmlformats.org/drawingml/2006/main">
              <a:ext uri="{FF2B5EF4-FFF2-40B4-BE49-F238E27FC236}">
                <a16:creationId xmlns:a16="http://schemas.microsoft.com/office/drawing/2014/main" id="{EB664719-924F-486A-9F2A-8DBE639C5545}"/>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Unveränderliche Snapshots und neu berechenbare Ansichten erfüllen unterschiedliche Aufgaben.</a:t>
            </a:r>
          </a:p>
        </p:txBody>
      </p:sp>
      <p:sp>
        <p:nvSpPr>
          <p:cNvPr id="3" name="">
            <a:extLst xmlns:a="http://schemas.openxmlformats.org/drawingml/2006/main">
              <a:ext uri="{FF2B5EF4-FFF2-40B4-BE49-F238E27FC236}">
                <a16:creationId xmlns:a16="http://schemas.microsoft.com/office/drawing/2014/main" id="{3EC1419D-95BD-4934-B15C-99DC8836AB86}"/>
              </a:ext>
            </a:extLst>
          </p:cNvPr>
          <p:cNvSpPr>
            <a:spLocks xmlns:a="http://schemas.openxmlformats.org/drawingml/2006/main" noGrp="1"/>
          </p:cNvSpPr>
          <p:nvPr/>
        </p:nvSpPr>
        <p:spPr>
          <a:xfrm xmlns:a="http://schemas.openxmlformats.org/drawingml/2006/main">
            <a:off x="762000" y="249555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Snapshots</a:t>
            </a:r>
          </a:p>
        </p:txBody>
      </p:sp>
      <p:sp>
        <p:nvSpPr>
          <p:cNvPr id="4" name="">
            <a:extLst xmlns:a="http://schemas.openxmlformats.org/drawingml/2006/main">
              <a:ext uri="{FF2B5EF4-FFF2-40B4-BE49-F238E27FC236}">
                <a16:creationId xmlns:a16="http://schemas.microsoft.com/office/drawing/2014/main" id="{28816B50-AC8C-4951-8AA3-6BE161FD95C3}"/>
              </a:ext>
            </a:extLst>
          </p:cNvPr>
          <p:cNvSpPr>
            <a:spLocks xmlns:a="http://schemas.openxmlformats.org/drawingml/2006/main" noGrp="1"/>
          </p:cNvSpPr>
          <p:nvPr/>
        </p:nvSpPr>
        <p:spPr>
          <a:xfrm xmlns:a="http://schemas.openxmlformats.org/drawingml/2006/main">
            <a:off x="3695700" y="249555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Neue Ergebnisse ergänzen die Geschichte. Identische Wiederholungen bleiben ohne Änderung.</a:t>
            </a:r>
          </a:p>
        </p:txBody>
      </p:sp>
      <p:sp>
        <p:nvSpPr>
          <p:cNvPr id="5" name="">
            <a:extLst xmlns:a="http://schemas.openxmlformats.org/drawingml/2006/main">
              <a:ext uri="{FF2B5EF4-FFF2-40B4-BE49-F238E27FC236}">
                <a16:creationId xmlns:a16="http://schemas.microsoft.com/office/drawing/2014/main" id="{10C6FA29-315B-4B08-98CC-D3D3999E00D9}"/>
              </a:ext>
            </a:extLst>
          </p:cNvPr>
          <p:cNvSpPr>
            <a:spLocks xmlns:a="http://schemas.openxmlformats.org/drawingml/2006/main" noGrp="1"/>
          </p:cNvSpPr>
          <p:nvPr/>
        </p:nvSpPr>
        <p:spPr>
          <a:xfrm xmlns:a="http://schemas.openxmlformats.org/drawingml/2006/main">
            <a:off x="762000" y="3590925"/>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Konflikte</a:t>
            </a:r>
          </a:p>
        </p:txBody>
      </p:sp>
      <p:sp>
        <p:nvSpPr>
          <p:cNvPr id="6" name="">
            <a:extLst xmlns:a="http://schemas.openxmlformats.org/drawingml/2006/main">
              <a:ext uri="{FF2B5EF4-FFF2-40B4-BE49-F238E27FC236}">
                <a16:creationId xmlns:a16="http://schemas.microsoft.com/office/drawing/2014/main" id="{E7688584-2725-42EC-9BE6-2883432C6FCF}"/>
              </a:ext>
            </a:extLst>
          </p:cNvPr>
          <p:cNvSpPr>
            <a:spLocks xmlns:a="http://schemas.openxmlformats.org/drawingml/2006/main" noGrp="1"/>
          </p:cNvSpPr>
          <p:nvPr/>
        </p:nvSpPr>
        <p:spPr>
          <a:xfrm xmlns:a="http://schemas.openxmlformats.org/drawingml/2006/main">
            <a:off x="3695700" y="3590925"/>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Abweichende Daten zur gleichen Snapshot-Identität landen als Konflikt im separaten Speicher.</a:t>
            </a:r>
          </a:p>
        </p:txBody>
      </p:sp>
      <p:sp>
        <p:nvSpPr>
          <p:cNvPr id="7" name="">
            <a:extLst xmlns:a="http://schemas.openxmlformats.org/drawingml/2006/main">
              <a:ext uri="{FF2B5EF4-FFF2-40B4-BE49-F238E27FC236}">
                <a16:creationId xmlns:a16="http://schemas.microsoft.com/office/drawing/2014/main" id="{2838523E-ABD4-40E9-A2E6-BD88337262E1}"/>
              </a:ext>
            </a:extLst>
          </p:cNvPr>
          <p:cNvSpPr>
            <a:spLocks xmlns:a="http://schemas.openxmlformats.org/drawingml/2006/main" noGrp="1"/>
          </p:cNvSpPr>
          <p:nvPr/>
        </p:nvSpPr>
        <p:spPr>
          <a:xfrm xmlns:a="http://schemas.openxmlformats.org/drawingml/2006/main">
            <a:off x="762000" y="468630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Projektionen</a:t>
            </a:r>
          </a:p>
        </p:txBody>
      </p:sp>
      <p:sp>
        <p:nvSpPr>
          <p:cNvPr id="8" name="">
            <a:extLst xmlns:a="http://schemas.openxmlformats.org/drawingml/2006/main">
              <a:ext uri="{FF2B5EF4-FFF2-40B4-BE49-F238E27FC236}">
                <a16:creationId xmlns:a16="http://schemas.microsoft.com/office/drawing/2014/main" id="{945ADB82-5056-4CE0-AE3A-90655D9135D4}"/>
              </a:ext>
            </a:extLst>
          </p:cNvPr>
          <p:cNvSpPr>
            <a:spLocks xmlns:a="http://schemas.openxmlformats.org/drawingml/2006/main" noGrp="1"/>
          </p:cNvSpPr>
          <p:nvPr/>
        </p:nvSpPr>
        <p:spPr>
          <a:xfrm xmlns:a="http://schemas.openxmlformats.org/drawingml/2006/main">
            <a:off x="3695700" y="468630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Generatoren berechnen Indizes und Viewer aus den gespeicherten Datensätzen.</a:t>
            </a:r>
          </a:p>
        </p:txBody>
      </p:sp>
      <p:sp>
        <p:nvSpPr>
          <p:cNvPr id="9" name="">
            <a:extLst xmlns:a="http://schemas.openxmlformats.org/drawingml/2006/main">
              <a:ext uri="{FF2B5EF4-FFF2-40B4-BE49-F238E27FC236}">
                <a16:creationId xmlns:a16="http://schemas.microsoft.com/office/drawing/2014/main" id="{5E5B8951-84F4-4762-86B0-923EAD28B14F}"/>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11. September 2026     12 / 16</a:t>
            </a:r>
          </a:p>
        </p:txBody>
      </p:sp>
    </p:spTree>
    <p:extLst>
      <p:ext uri="{BB962C8B-B14F-4D97-AF65-F5344CB8AC3E}">
        <p14:creationId xmlns:p14="http://schemas.microsoft.com/office/powerpoint/2010/main" val="206859240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041E4C-1956-4723-9070-E95F34A508F9}"/>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Drei getrennte Signale im Viewer</a:t>
            </a:r>
          </a:p>
        </p:txBody>
      </p:sp>
      <p:sp>
        <p:nvSpPr>
          <p:cNvPr id="2" name="">
            <a:extLst xmlns:a="http://schemas.openxmlformats.org/drawingml/2006/main">
              <a:ext uri="{FF2B5EF4-FFF2-40B4-BE49-F238E27FC236}">
                <a16:creationId xmlns:a16="http://schemas.microsoft.com/office/drawing/2014/main" id="{F0D2392E-9981-4C27-A082-923A32EA3A51}"/>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Technischer Laufstatus, fachlicher Befund und Nachweisvertrauen beantworten eigene Fragen.</a:t>
            </a:r>
          </a:p>
        </p:txBody>
      </p:sp>
      <p:graphicFrame>
        <p:nvGraphicFramePr>
          <p:cNvPr id="7" name=""/>
          <p:cNvGraphicFramePr/>
          <p:nvPr/>
        </p:nvGraphicFramePr>
        <p:xfrm>
          <a:off xmlns:a="http://schemas.openxmlformats.org/drawingml/2006/main" x="742950" y="2343150"/>
          <a:ext xmlns:a="http://schemas.openxmlformats.org/drawingml/2006/main" cx="10706100" cy="3524250"/>
        </p:xfrm>
        <a:graphic xmlns:a="http://schemas.openxmlformats.org/drawingml/2006/main">
          <a:graphicData uri="http://schemas.openxmlformats.org/drawingml/2006/table">
            <a:tbl>
              <a:tblPr firstRow="1" bandRow="0"/>
              <a:tblGrid>
                <a:gridCol w="3905250"/>
                <a:gridCol w="6800850"/>
              </a:tblGrid>
              <a:tr h="533400">
                <a:tc>
                  <a:txBody>
                    <a:bodyPr lIns="152400" tIns="95250" rIns="152400" bIns="95250">
                      <a:noAutofit/>
                    </a:bodyPr>
                    <a:lstStyle/>
                    <a:p>
                      <a:r>
                        <a:rPr sz="1800" b="1">
                          <a:solidFill>
                            <a:srgbClr val="FFFFFF"/>
                          </a:solidFill>
                          <a:latin typeface="Arial"/>
                          <a:ea typeface="Arial"/>
                          <a:cs typeface="Arial"/>
                        </a:rPr>
                        <a:t>Signal</a:t>
                      </a:r>
                    </a:p>
                  </a:txBody>
                  <a:tcPr marL="91440" marR="91440" marT="45720" marB="45720" anchor="ctr">
                    <a:solidFill>
                      <a:srgbClr val="16394A"/>
                    </a:solidFill>
                  </a:tcPr>
                </a:tc>
                <a:tc>
                  <a:txBody>
                    <a:bodyPr lIns="152400" tIns="95250" rIns="152400" bIns="95250">
                      <a:noAutofit/>
                    </a:bodyPr>
                    <a:lstStyle/>
                    <a:p>
                      <a:r>
                        <a:rPr sz="1800" b="1">
                          <a:solidFill>
                            <a:srgbClr val="FFFFFF"/>
                          </a:solidFill>
                          <a:latin typeface="Arial"/>
                          <a:ea typeface="Arial"/>
                          <a:cs typeface="Arial"/>
                        </a:rPr>
                        <a:t>Was es aussagt</a:t>
                      </a:r>
                    </a:p>
                  </a:txBody>
                  <a:tcPr marL="91440" marR="91440" marT="45720" marB="45720" anchor="ctr">
                    <a:solidFill>
                      <a:srgbClr val="16394A"/>
                    </a:solidFill>
                  </a:tcPr>
                </a:tc>
              </a:tr>
              <a:tr h="838200">
                <a:tc>
                  <a:txBody>
                    <a:bodyPr lIns="152400" tIns="95250" rIns="152400" bIns="95250">
                      <a:noAutofit/>
                    </a:bodyPr>
                    <a:lstStyle/>
                    <a:p>
                      <a:r>
                        <a:rPr sz="1800" b="0">
                          <a:solidFill>
                            <a:srgbClr val="182F3B"/>
                          </a:solidFill>
                          <a:latin typeface="Arial"/>
                          <a:ea typeface="Arial"/>
                          <a:cs typeface="Arial"/>
                        </a:rPr>
                        <a:t>Workflow-Status</a:t>
                      </a:r>
                    </a:p>
                  </a:txBody>
                  <a:tcPr marL="91440" marR="91440" marT="45720" marB="45720" anchor="ctr">
                    <a:solidFill>
                      <a:srgbClr val="FFFFFF"/>
                    </a:solidFill>
                  </a:tcPr>
                </a:tc>
                <a:tc>
                  <a:txBody>
                    <a:bodyPr lIns="152400" tIns="95250" rIns="152400" bIns="95250">
                      <a:noAutofit/>
                    </a:bodyPr>
                    <a:lstStyle/>
                    <a:p>
                      <a:r>
                        <a:rPr sz="1800" b="0">
                          <a:solidFill>
                            <a:srgbClr val="182F3B"/>
                          </a:solidFill>
                          <a:latin typeface="Arial"/>
                          <a:ea typeface="Arial"/>
                          <a:cs typeface="Arial"/>
                        </a:rPr>
                        <a:t>Konnte der technische Ablauf erfolgreich enden?</a:t>
                      </a:r>
                    </a:p>
                  </a:txBody>
                  <a:tcPr marL="91440" marR="91440" marT="45720" marB="45720" anchor="ctr">
                    <a:solidFill>
                      <a:srgbClr val="FFFFFF"/>
                    </a:solidFill>
                  </a:tcPr>
                </a:tc>
              </a:tr>
              <a:tr h="838200">
                <a:tc>
                  <a:txBody>
                    <a:bodyPr lIns="152400" tIns="95250" rIns="152400" bIns="95250">
                      <a:noAutofit/>
                    </a:bodyPr>
                    <a:lstStyle/>
                    <a:p>
                      <a:r>
                        <a:rPr sz="1800" b="0">
                          <a:solidFill>
                            <a:srgbClr val="182F3B"/>
                          </a:solidFill>
                          <a:latin typeface="Arial"/>
                          <a:ea typeface="Arial"/>
                          <a:cs typeface="Arial"/>
                        </a:rPr>
                        <a:t>Governance-Ergebnis</a:t>
                      </a:r>
                    </a:p>
                  </a:txBody>
                  <a:tcPr marL="91440" marR="91440" marT="45720" marB="45720" anchor="ctr">
                    <a:solidFill>
                      <a:srgbClr val="F0F4F5"/>
                    </a:solidFill>
                  </a:tcPr>
                </a:tc>
                <a:tc>
                  <a:txBody>
                    <a:bodyPr lIns="152400" tIns="95250" rIns="152400" bIns="95250">
                      <a:noAutofit/>
                    </a:bodyPr>
                    <a:lstStyle/>
                    <a:p>
                      <a:r>
                        <a:rPr sz="1800" b="0">
                          <a:solidFill>
                            <a:srgbClr val="182F3B"/>
                          </a:solidFill>
                          <a:latin typeface="Arial"/>
                          <a:ea typeface="Arial"/>
                          <a:cs typeface="Arial"/>
                        </a:rPr>
                        <a:t>Welche ausgewerteten Anforderungen erfüllen die Nachweise?</a:t>
                      </a:r>
                    </a:p>
                  </a:txBody>
                  <a:tcPr marL="91440" marR="91440" marT="45720" marB="45720" anchor="ctr">
                    <a:solidFill>
                      <a:srgbClr val="F0F4F5"/>
                    </a:solidFill>
                  </a:tcPr>
                </a:tc>
              </a:tr>
              <a:tr h="838200">
                <a:tc>
                  <a:txBody>
                    <a:bodyPr lIns="152400" tIns="95250" rIns="152400" bIns="95250">
                      <a:noAutofit/>
                    </a:bodyPr>
                    <a:lstStyle/>
                    <a:p>
                      <a:r>
                        <a:rPr sz="1800" b="0">
                          <a:solidFill>
                            <a:srgbClr val="182F3B"/>
                          </a:solidFill>
                          <a:latin typeface="Arial"/>
                          <a:ea typeface="Arial"/>
                          <a:cs typeface="Arial"/>
                        </a:rPr>
                        <a:t>Evidence Trust</a:t>
                      </a:r>
                    </a:p>
                  </a:txBody>
                  <a:tcPr marL="91440" marR="91440" marT="45720" marB="45720" anchor="ctr">
                    <a:solidFill>
                      <a:srgbClr val="FFFFFF"/>
                    </a:solidFill>
                  </a:tcPr>
                </a:tc>
                <a:tc>
                  <a:txBody>
                    <a:bodyPr lIns="152400" tIns="95250" rIns="152400" bIns="95250">
                      <a:noAutofit/>
                    </a:bodyPr>
                    <a:lstStyle/>
                    <a:p>
                      <a:r>
                        <a:rPr sz="1800" b="0">
                          <a:solidFill>
                            <a:srgbClr val="182F3B"/>
                          </a:solidFill>
                          <a:latin typeface="Arial"/>
                          <a:ea typeface="Arial"/>
                          <a:cs typeface="Arial"/>
                        </a:rPr>
                        <a:t>Wie weit ist das Vertrauen in die erfassten Nachweise geprüft?</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E9C1E95-ADD0-4C23-8801-A2E9623D4362}"/>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11. September 2026     13 / 16</a:t>
            </a:r>
          </a:p>
        </p:txBody>
      </p:sp>
    </p:spTree>
    <p:extLst>
      <p:ext uri="{BB962C8B-B14F-4D97-AF65-F5344CB8AC3E}">
        <p14:creationId xmlns:p14="http://schemas.microsoft.com/office/powerpoint/2010/main" val="47239665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CC6EF0-E9D3-4823-87D2-225F3F2D0D0C}"/>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Report-only und Blocking</a:t>
            </a:r>
          </a:p>
        </p:txBody>
      </p:sp>
      <p:sp>
        <p:nvSpPr>
          <p:cNvPr id="2" name="">
            <a:extLst xmlns:a="http://schemas.openxmlformats.org/drawingml/2006/main">
              <a:ext uri="{FF2B5EF4-FFF2-40B4-BE49-F238E27FC236}">
                <a16:creationId xmlns:a16="http://schemas.microsoft.com/office/drawing/2014/main" id="{129E60BD-D6D5-4BD8-8C71-19559ACD5F71}"/>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Der Ausführungsmodus bestimmt die technische Reaktion auf Befunde.</a:t>
            </a:r>
          </a:p>
        </p:txBody>
      </p:sp>
      <p:sp>
        <p:nvSpPr>
          <p:cNvPr id="3" name="">
            <a:extLst xmlns:a="http://schemas.openxmlformats.org/drawingml/2006/main">
              <a:ext uri="{FF2B5EF4-FFF2-40B4-BE49-F238E27FC236}">
                <a16:creationId xmlns:a16="http://schemas.microsoft.com/office/drawing/2014/main" id="{E06FD8BE-B97A-438E-9B94-FF93D1D9934D}"/>
              </a:ext>
            </a:extLst>
          </p:cNvPr>
          <p:cNvSpPr>
            <a:spLocks xmlns:a="http://schemas.openxmlformats.org/drawingml/2006/main" noGrp="1"/>
          </p:cNvSpPr>
          <p:nvPr/>
        </p:nvSpPr>
        <p:spPr>
          <a:xfrm xmlns:a="http://schemas.openxmlformats.org/drawingml/2006/main">
            <a:off x="762000" y="2609850"/>
            <a:ext cx="502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76B74"/>
                </a:solidFill>
                <a:latin typeface="Arial"/>
                <a:ea typeface="Arial"/>
                <a:cs typeface="Arial"/>
              </a:defRPr>
            </a:pPr>
            <a:r>
              <a:rPr sz="2700" b="1">
                <a:solidFill>
                  <a:srgbClr val="176B74"/>
                </a:solidFill>
                <a:latin typeface="Arial"/>
                <a:ea typeface="Arial"/>
                <a:cs typeface="Arial"/>
              </a:rPr>
              <a:t>Report-only</a:t>
            </a:r>
          </a:p>
        </p:txBody>
      </p:sp>
      <p:sp>
        <p:nvSpPr>
          <p:cNvPr id="4" name="">
            <a:extLst xmlns:a="http://schemas.openxmlformats.org/drawingml/2006/main">
              <a:ext uri="{FF2B5EF4-FFF2-40B4-BE49-F238E27FC236}">
                <a16:creationId xmlns:a16="http://schemas.microsoft.com/office/drawing/2014/main" id="{5A87B410-F44E-4879-8DE0-C6E49F35ACC8}"/>
              </a:ext>
            </a:extLst>
          </p:cNvPr>
          <p:cNvSpPr>
            <a:spLocks xmlns:a="http://schemas.openxmlformats.org/drawingml/2006/main" noGrp="1"/>
          </p:cNvSpPr>
          <p:nvPr/>
        </p:nvSpPr>
        <p:spPr>
          <a:xfrm xmlns:a="http://schemas.openxmlformats.org/drawingml/2006/main">
            <a:off x="762000" y="3524250"/>
            <a:ext cx="49911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Befunde erscheinen im Bericht.</a:t>
            </a:r>
          </a:p>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Technische Fehler können den Lauf dennoch stoppen.</a:t>
            </a:r>
          </a:p>
        </p:txBody>
      </p:sp>
      <p:sp>
        <p:nvSpPr>
          <p:cNvPr id="5" name="">
            <a:extLst xmlns:a="http://schemas.openxmlformats.org/drawingml/2006/main">
              <a:ext uri="{FF2B5EF4-FFF2-40B4-BE49-F238E27FC236}">
                <a16:creationId xmlns:a16="http://schemas.microsoft.com/office/drawing/2014/main" id="{A9A38EEB-84A5-46A8-840D-FD975B533109}"/>
              </a:ext>
            </a:extLst>
          </p:cNvPr>
          <p:cNvSpPr>
            <a:spLocks xmlns:a="http://schemas.openxmlformats.org/drawingml/2006/main" noGrp="1"/>
          </p:cNvSpPr>
          <p:nvPr/>
        </p:nvSpPr>
        <p:spPr>
          <a:xfrm xmlns:a="http://schemas.openxmlformats.org/drawingml/2006/main">
            <a:off x="6419850" y="2609850"/>
            <a:ext cx="5029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176B74"/>
                </a:solidFill>
                <a:latin typeface="Arial"/>
                <a:ea typeface="Arial"/>
                <a:cs typeface="Arial"/>
              </a:defRPr>
            </a:pPr>
            <a:r>
              <a:rPr sz="2700" b="1">
                <a:solidFill>
                  <a:srgbClr val="176B74"/>
                </a:solidFill>
                <a:latin typeface="Arial"/>
                <a:ea typeface="Arial"/>
                <a:cs typeface="Arial"/>
              </a:rPr>
              <a:t>Blocking</a:t>
            </a:r>
          </a:p>
        </p:txBody>
      </p:sp>
      <p:sp>
        <p:nvSpPr>
          <p:cNvPr id="6" name="">
            <a:extLst xmlns:a="http://schemas.openxmlformats.org/drawingml/2006/main">
              <a:ext uri="{FF2B5EF4-FFF2-40B4-BE49-F238E27FC236}">
                <a16:creationId xmlns:a16="http://schemas.microsoft.com/office/drawing/2014/main" id="{BF8DBE61-7D36-40B8-92C4-00CD2FE1ACC2}"/>
              </a:ext>
            </a:extLst>
          </p:cNvPr>
          <p:cNvSpPr>
            <a:spLocks xmlns:a="http://schemas.openxmlformats.org/drawingml/2006/main" noGrp="1"/>
          </p:cNvSpPr>
          <p:nvPr/>
        </p:nvSpPr>
        <p:spPr>
          <a:xfrm xmlns:a="http://schemas.openxmlformats.org/drawingml/2006/main">
            <a:off x="6419850" y="3524250"/>
            <a:ext cx="49911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Relevante Befunde lassen den Lauf scheitern.</a:t>
            </a:r>
          </a:p>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Branch-Schutz entscheidet über die Wirkung auf einen Merge.</a:t>
            </a:r>
          </a:p>
        </p:txBody>
      </p:sp>
      <p:sp>
        <p:nvSpPr>
          <p:cNvPr id="7" name="">
            <a:extLst xmlns:a="http://schemas.openxmlformats.org/drawingml/2006/main">
              <a:ext uri="{FF2B5EF4-FFF2-40B4-BE49-F238E27FC236}">
                <a16:creationId xmlns:a16="http://schemas.microsoft.com/office/drawing/2014/main" id="{3F0699B2-A2D9-4B6A-97C9-54F6CFA0ABA7}"/>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11. September 2026     14 / 16</a:t>
            </a:r>
          </a:p>
        </p:txBody>
      </p:sp>
    </p:spTree>
    <p:extLst>
      <p:ext uri="{BB962C8B-B14F-4D97-AF65-F5344CB8AC3E}">
        <p14:creationId xmlns:p14="http://schemas.microsoft.com/office/powerpoint/2010/main" val="31250404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CDE52CD-8B6D-4DE6-A9EC-746A7E662F96}"/>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Fehlerbehandlung und täglicher Betrieb</a:t>
            </a:r>
          </a:p>
        </p:txBody>
      </p:sp>
      <p:sp>
        <p:nvSpPr>
          <p:cNvPr id="2" name="">
            <a:extLst xmlns:a="http://schemas.openxmlformats.org/drawingml/2006/main">
              <a:ext uri="{FF2B5EF4-FFF2-40B4-BE49-F238E27FC236}">
                <a16:creationId xmlns:a16="http://schemas.microsoft.com/office/drawing/2014/main" id="{4A9C068A-B260-4DC7-A489-DE7FD9280A93}"/>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6B74"/>
                </a:solidFill>
                <a:latin typeface="Arial"/>
                <a:ea typeface="Arial"/>
                <a:cs typeface="Arial"/>
              </a:defRPr>
            </a:pPr>
            <a:r>
              <a:rPr sz="2175" b="0">
                <a:solidFill>
                  <a:srgbClr val="176B74"/>
                </a:solidFill>
                <a:latin typeface="Arial"/>
                <a:ea typeface="Arial"/>
                <a:cs typeface="Arial"/>
              </a:rPr>
              <a:t>Auch fehlgeschlagene Sammlungen brauchen einen sichtbaren und nachvollziehbaren Weg.</a:t>
            </a:r>
          </a:p>
        </p:txBody>
      </p:sp>
      <p:sp>
        <p:nvSpPr>
          <p:cNvPr id="3" name="">
            <a:extLst xmlns:a="http://schemas.openxmlformats.org/drawingml/2006/main">
              <a:ext uri="{FF2B5EF4-FFF2-40B4-BE49-F238E27FC236}">
                <a16:creationId xmlns:a16="http://schemas.microsoft.com/office/drawing/2014/main" id="{EDC3E729-B2E2-4E43-BEA8-CA537E97E83B}"/>
              </a:ext>
            </a:extLst>
          </p:cNvPr>
          <p:cNvSpPr>
            <a:spLocks xmlns:a="http://schemas.openxmlformats.org/drawingml/2006/main" noGrp="1"/>
          </p:cNvSpPr>
          <p:nvPr/>
        </p:nvSpPr>
        <p:spPr>
          <a:xfrm xmlns:a="http://schemas.openxmlformats.org/drawingml/2006/main">
            <a:off x="762000" y="249555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Fehler erfassen</a:t>
            </a:r>
          </a:p>
        </p:txBody>
      </p:sp>
      <p:sp>
        <p:nvSpPr>
          <p:cNvPr id="4" name="">
            <a:extLst xmlns:a="http://schemas.openxmlformats.org/drawingml/2006/main">
              <a:ext uri="{FF2B5EF4-FFF2-40B4-BE49-F238E27FC236}">
                <a16:creationId xmlns:a16="http://schemas.microsoft.com/office/drawing/2014/main" id="{8F3E8B3A-CBAA-4B41-8B2D-7CCF05063CFD}"/>
              </a:ext>
            </a:extLst>
          </p:cNvPr>
          <p:cNvSpPr>
            <a:spLocks xmlns:a="http://schemas.openxmlformats.org/drawingml/2006/main" noGrp="1"/>
          </p:cNvSpPr>
          <p:nvPr/>
        </p:nvSpPr>
        <p:spPr>
          <a:xfrm xmlns:a="http://schemas.openxmlformats.org/drawingml/2006/main">
            <a:off x="3695700" y="249555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Collection Attempts dokumentieren fehlgeschlagene Sammlungen über denselben PR-Weg.</a:t>
            </a:r>
          </a:p>
        </p:txBody>
      </p:sp>
      <p:sp>
        <p:nvSpPr>
          <p:cNvPr id="5" name="">
            <a:extLst xmlns:a="http://schemas.openxmlformats.org/drawingml/2006/main">
              <a:ext uri="{FF2B5EF4-FFF2-40B4-BE49-F238E27FC236}">
                <a16:creationId xmlns:a16="http://schemas.microsoft.com/office/drawing/2014/main" id="{B2366A6E-7870-4661-9F05-E52049EE488D}"/>
              </a:ext>
            </a:extLst>
          </p:cNvPr>
          <p:cNvSpPr>
            <a:spLocks xmlns:a="http://schemas.openxmlformats.org/drawingml/2006/main" noGrp="1"/>
          </p:cNvSpPr>
          <p:nvPr/>
        </p:nvSpPr>
        <p:spPr>
          <a:xfrm xmlns:a="http://schemas.openxmlformats.org/drawingml/2006/main">
            <a:off x="762000" y="3590925"/>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Gezielt wiederholen</a:t>
            </a:r>
          </a:p>
        </p:txBody>
      </p:sp>
      <p:sp>
        <p:nvSpPr>
          <p:cNvPr id="6" name="">
            <a:extLst xmlns:a="http://schemas.openxmlformats.org/drawingml/2006/main">
              <a:ext uri="{FF2B5EF4-FFF2-40B4-BE49-F238E27FC236}">
                <a16:creationId xmlns:a16="http://schemas.microsoft.com/office/drawing/2014/main" id="{3D35278C-5464-4D79-811D-037D51537FE4}"/>
              </a:ext>
            </a:extLst>
          </p:cNvPr>
          <p:cNvSpPr>
            <a:spLocks xmlns:a="http://schemas.openxmlformats.org/drawingml/2006/main" noGrp="1"/>
          </p:cNvSpPr>
          <p:nvPr/>
        </p:nvSpPr>
        <p:spPr>
          <a:xfrm xmlns:a="http://schemas.openxmlformats.org/drawingml/2006/main">
            <a:off x="3695700" y="3590925"/>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Ein Operator startet einen zulässigen Retry. Das ursprüngliche Fehlerereignis bleibt erhalten.</a:t>
            </a:r>
          </a:p>
        </p:txBody>
      </p:sp>
      <p:sp>
        <p:nvSpPr>
          <p:cNvPr id="7" name="">
            <a:extLst xmlns:a="http://schemas.openxmlformats.org/drawingml/2006/main">
              <a:ext uri="{FF2B5EF4-FFF2-40B4-BE49-F238E27FC236}">
                <a16:creationId xmlns:a16="http://schemas.microsoft.com/office/drawing/2014/main" id="{B12287C9-45D0-44F4-9056-D098704ABA64}"/>
              </a:ext>
            </a:extLst>
          </p:cNvPr>
          <p:cNvSpPr>
            <a:spLocks xmlns:a="http://schemas.openxmlformats.org/drawingml/2006/main" noGrp="1"/>
          </p:cNvSpPr>
          <p:nvPr/>
        </p:nvSpPr>
        <p:spPr>
          <a:xfrm xmlns:a="http://schemas.openxmlformats.org/drawingml/2006/main">
            <a:off x="762000" y="468630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76B74"/>
                </a:solidFill>
                <a:latin typeface="Arial"/>
                <a:ea typeface="Arial"/>
                <a:cs typeface="Arial"/>
              </a:defRPr>
            </a:pPr>
            <a:r>
              <a:rPr sz="2025" b="1">
                <a:solidFill>
                  <a:srgbClr val="176B74"/>
                </a:solidFill>
                <a:latin typeface="Arial"/>
                <a:ea typeface="Arial"/>
                <a:cs typeface="Arial"/>
              </a:rPr>
              <a:t>Betrieb beobachten</a:t>
            </a:r>
          </a:p>
        </p:txBody>
      </p:sp>
      <p:sp>
        <p:nvSpPr>
          <p:cNvPr id="8" name="">
            <a:extLst xmlns:a="http://schemas.openxmlformats.org/drawingml/2006/main">
              <a:ext uri="{FF2B5EF4-FFF2-40B4-BE49-F238E27FC236}">
                <a16:creationId xmlns:a16="http://schemas.microsoft.com/office/drawing/2014/main" id="{E9383613-5E5F-4BFB-B233-AFBB5D1CCBA9}"/>
              </a:ext>
            </a:extLst>
          </p:cNvPr>
          <p:cNvSpPr>
            <a:spLocks xmlns:a="http://schemas.openxmlformats.org/drawingml/2006/main" noGrp="1"/>
          </p:cNvSpPr>
          <p:nvPr/>
        </p:nvSpPr>
        <p:spPr>
          <a:xfrm xmlns:a="http://schemas.openxmlformats.org/drawingml/2006/main">
            <a:off x="3695700" y="468630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Der tägliche Bericht zeigt Handlungsbedarf. Verantwortliche verfolgen offene Punkte.</a:t>
            </a:r>
          </a:p>
        </p:txBody>
      </p:sp>
      <p:sp>
        <p:nvSpPr>
          <p:cNvPr id="9" name="">
            <a:extLst xmlns:a="http://schemas.openxmlformats.org/drawingml/2006/main">
              <a:ext uri="{FF2B5EF4-FFF2-40B4-BE49-F238E27FC236}">
                <a16:creationId xmlns:a16="http://schemas.microsoft.com/office/drawing/2014/main" id="{91D00912-3912-46A5-AEBD-7587FC682C7E}"/>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526674"/>
                </a:solidFill>
                <a:latin typeface="Arial"/>
                <a:ea typeface="Arial"/>
                <a:cs typeface="Arial"/>
              </a:defRPr>
            </a:pPr>
            <a:r>
              <a:rPr sz="1200" b="0">
                <a:solidFill>
                  <a:srgbClr val="526674"/>
                </a:solidFill>
                <a:latin typeface="Arial"/>
                <a:ea typeface="Arial"/>
                <a:cs typeface="Arial"/>
              </a:rPr>
              <a:t>11. September 2026     15 / 16</a:t>
            </a:r>
          </a:p>
        </p:txBody>
      </p:sp>
    </p:spTree>
    <p:extLst>
      <p:ext uri="{BB962C8B-B14F-4D97-AF65-F5344CB8AC3E}">
        <p14:creationId xmlns:p14="http://schemas.microsoft.com/office/powerpoint/2010/main" val="803350850"/>
      </p:ext>
    </p:extLst>
  </p:cSld>
</p:sld>
</file>

<file path=ppt/slides/slide16.xml><?xml version="1.0" encoding="utf-8"?>
<p:sld xmlns:p="http://schemas.openxmlformats.org/presentationml/2006/main">
  <p:cSld>
    <p:bg>
      <p:bgPr>
        <a:solidFill xmlns:a="http://schemas.openxmlformats.org/drawingml/2006/main">
          <a:srgbClr val="16394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B6AE5D3-2B08-4A81-8CA4-5B8E0F5ABD96}"/>
              </a:ext>
            </a:extLst>
          </p:cNvPr>
          <p:cNvSpPr>
            <a:spLocks xmlns:a="http://schemas.openxmlformats.org/drawingml/2006/main" noGrp="1"/>
          </p:cNvSpPr>
          <p:nvPr/>
        </p:nvSpPr>
        <p:spPr>
          <a:xfrm xmlns:a="http://schemas.openxmlformats.org/drawingml/2006/main">
            <a:off x="723900" y="5334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Ein Ergebnis bis zur Quelle erklären</a:t>
            </a:r>
          </a:p>
        </p:txBody>
      </p:sp>
      <p:sp>
        <p:nvSpPr>
          <p:cNvPr id="2" name="">
            <a:extLst xmlns:a="http://schemas.openxmlformats.org/drawingml/2006/main">
              <a:ext uri="{FF2B5EF4-FFF2-40B4-BE49-F238E27FC236}">
                <a16:creationId xmlns:a16="http://schemas.microsoft.com/office/drawing/2014/main" id="{5311EA99-F2C6-4C83-92BE-3757A55DD5DB}"/>
              </a:ext>
            </a:extLst>
          </p:cNvPr>
          <p:cNvSpPr>
            <a:spLocks xmlns:a="http://schemas.openxmlformats.org/drawingml/2006/main" noGrp="1"/>
          </p:cNvSpPr>
          <p:nvPr/>
        </p:nvSpPr>
        <p:spPr>
          <a:xfrm xmlns:a="http://schemas.openxmlformats.org/drawingml/2006/main">
            <a:off x="742950" y="1390650"/>
            <a:ext cx="106489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B9DFDF"/>
                </a:solidFill>
                <a:latin typeface="Arial"/>
                <a:ea typeface="Arial"/>
                <a:cs typeface="Arial"/>
              </a:defRPr>
            </a:pPr>
            <a:r>
              <a:rPr sz="2175" b="0">
                <a:solidFill>
                  <a:srgbClr val="B9DFDF"/>
                </a:solidFill>
                <a:latin typeface="Arial"/>
                <a:ea typeface="Arial"/>
                <a:cs typeface="Arial"/>
              </a:rPr>
              <a:t>Der Repository-Rundgang folgt einer überprüfbaren Frage: Woher stammt diese Aussage?</a:t>
            </a:r>
          </a:p>
        </p:txBody>
      </p:sp>
      <p:sp>
        <p:nvSpPr>
          <p:cNvPr id="3" name="">
            <a:extLst xmlns:a="http://schemas.openxmlformats.org/drawingml/2006/main">
              <a:ext uri="{FF2B5EF4-FFF2-40B4-BE49-F238E27FC236}">
                <a16:creationId xmlns:a16="http://schemas.microsoft.com/office/drawing/2014/main" id="{2584D2E8-859A-4B59-886B-18754C104525}"/>
              </a:ext>
            </a:extLst>
          </p:cNvPr>
          <p:cNvSpPr>
            <a:spLocks xmlns:a="http://schemas.openxmlformats.org/drawingml/2006/main" noGrp="1"/>
          </p:cNvSpPr>
          <p:nvPr/>
        </p:nvSpPr>
        <p:spPr>
          <a:xfrm xmlns:a="http://schemas.openxmlformats.org/drawingml/2006/main">
            <a:off x="762000" y="249555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9DFDF"/>
                </a:solidFill>
                <a:latin typeface="Arial"/>
                <a:ea typeface="Arial"/>
                <a:cs typeface="Arial"/>
              </a:defRPr>
            </a:pPr>
            <a:r>
              <a:rPr sz="2025" b="1">
                <a:solidFill>
                  <a:srgbClr val="B9DFDF"/>
                </a:solidFill>
                <a:latin typeface="Arial"/>
                <a:ea typeface="Arial"/>
                <a:cs typeface="Arial"/>
              </a:rPr>
              <a:t>Im Viewer</a:t>
            </a:r>
          </a:p>
        </p:txBody>
      </p:sp>
      <p:sp>
        <p:nvSpPr>
          <p:cNvPr id="4" name="">
            <a:extLst xmlns:a="http://schemas.openxmlformats.org/drawingml/2006/main">
              <a:ext uri="{FF2B5EF4-FFF2-40B4-BE49-F238E27FC236}">
                <a16:creationId xmlns:a16="http://schemas.microsoft.com/office/drawing/2014/main" id="{5EF86C87-8942-45B5-88EF-F407361F0C4A}"/>
              </a:ext>
            </a:extLst>
          </p:cNvPr>
          <p:cNvSpPr>
            <a:spLocks xmlns:a="http://schemas.openxmlformats.org/drawingml/2006/main" noGrp="1"/>
          </p:cNvSpPr>
          <p:nvPr/>
        </p:nvSpPr>
        <p:spPr>
          <a:xfrm xmlns:a="http://schemas.openxmlformats.org/drawingml/2006/main">
            <a:off x="3695700" y="249555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Ergebnis und Laufkontext auswählen, Befunde und Trust getrennt lesen.</a:t>
            </a:r>
          </a:p>
        </p:txBody>
      </p:sp>
      <p:sp>
        <p:nvSpPr>
          <p:cNvPr id="5" name="">
            <a:extLst xmlns:a="http://schemas.openxmlformats.org/drawingml/2006/main">
              <a:ext uri="{FF2B5EF4-FFF2-40B4-BE49-F238E27FC236}">
                <a16:creationId xmlns:a16="http://schemas.microsoft.com/office/drawing/2014/main" id="{EB1CD62D-651C-43CC-984F-247846E4E335}"/>
              </a:ext>
            </a:extLst>
          </p:cNvPr>
          <p:cNvSpPr>
            <a:spLocks xmlns:a="http://schemas.openxmlformats.org/drawingml/2006/main" noGrp="1"/>
          </p:cNvSpPr>
          <p:nvPr/>
        </p:nvSpPr>
        <p:spPr>
          <a:xfrm xmlns:a="http://schemas.openxmlformats.org/drawingml/2006/main">
            <a:off x="762000" y="3590925"/>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9DFDF"/>
                </a:solidFill>
                <a:latin typeface="Arial"/>
                <a:ea typeface="Arial"/>
                <a:cs typeface="Arial"/>
              </a:defRPr>
            </a:pPr>
            <a:r>
              <a:rPr sz="2025" b="1">
                <a:solidFill>
                  <a:srgbClr val="B9DFDF"/>
                </a:solidFill>
                <a:latin typeface="Arial"/>
                <a:ea typeface="Arial"/>
                <a:cs typeface="Arial"/>
              </a:rPr>
              <a:t>Im Nachweis</a:t>
            </a:r>
          </a:p>
        </p:txBody>
      </p:sp>
      <p:sp>
        <p:nvSpPr>
          <p:cNvPr id="6" name="">
            <a:extLst xmlns:a="http://schemas.openxmlformats.org/drawingml/2006/main">
              <a:ext uri="{FF2B5EF4-FFF2-40B4-BE49-F238E27FC236}">
                <a16:creationId xmlns:a16="http://schemas.microsoft.com/office/drawing/2014/main" id="{BD2A8DD1-B035-46B1-8DD2-DB0266F72AEA}"/>
              </a:ext>
            </a:extLst>
          </p:cNvPr>
          <p:cNvSpPr>
            <a:spLocks xmlns:a="http://schemas.openxmlformats.org/drawingml/2006/main" noGrp="1"/>
          </p:cNvSpPr>
          <p:nvPr/>
        </p:nvSpPr>
        <p:spPr>
          <a:xfrm xmlns:a="http://schemas.openxmlformats.org/drawingml/2006/main">
            <a:off x="3695700" y="3590925"/>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Repository, Commit, Lauf und verwendete Baseline zuordnen.</a:t>
            </a:r>
          </a:p>
        </p:txBody>
      </p:sp>
      <p:sp>
        <p:nvSpPr>
          <p:cNvPr id="7" name="">
            <a:extLst xmlns:a="http://schemas.openxmlformats.org/drawingml/2006/main">
              <a:ext uri="{FF2B5EF4-FFF2-40B4-BE49-F238E27FC236}">
                <a16:creationId xmlns:a16="http://schemas.microsoft.com/office/drawing/2014/main" id="{143C8693-FA33-4A0D-B6B0-F0A08C067D09}"/>
              </a:ext>
            </a:extLst>
          </p:cNvPr>
          <p:cNvSpPr>
            <a:spLocks xmlns:a="http://schemas.openxmlformats.org/drawingml/2006/main" noGrp="1"/>
          </p:cNvSpPr>
          <p:nvPr/>
        </p:nvSpPr>
        <p:spPr>
          <a:xfrm xmlns:a="http://schemas.openxmlformats.org/drawingml/2006/main">
            <a:off x="762000" y="4686300"/>
            <a:ext cx="2590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B9DFDF"/>
                </a:solidFill>
                <a:latin typeface="Arial"/>
                <a:ea typeface="Arial"/>
                <a:cs typeface="Arial"/>
              </a:defRPr>
            </a:pPr>
            <a:r>
              <a:rPr sz="2025" b="1">
                <a:solidFill>
                  <a:srgbClr val="B9DFDF"/>
                </a:solidFill>
                <a:latin typeface="Arial"/>
                <a:ea typeface="Arial"/>
                <a:cs typeface="Arial"/>
              </a:rPr>
              <a:t>In der Regel</a:t>
            </a:r>
          </a:p>
        </p:txBody>
      </p:sp>
      <p:sp>
        <p:nvSpPr>
          <p:cNvPr id="8" name="">
            <a:extLst xmlns:a="http://schemas.openxmlformats.org/drawingml/2006/main">
              <a:ext uri="{FF2B5EF4-FFF2-40B4-BE49-F238E27FC236}">
                <a16:creationId xmlns:a16="http://schemas.microsoft.com/office/drawing/2014/main" id="{67137A9C-B373-403B-80FF-6F8D72FA6F5D}"/>
              </a:ext>
            </a:extLst>
          </p:cNvPr>
          <p:cNvSpPr>
            <a:spLocks xmlns:a="http://schemas.openxmlformats.org/drawingml/2006/main" noGrp="1"/>
          </p:cNvSpPr>
          <p:nvPr/>
        </p:nvSpPr>
        <p:spPr>
          <a:xfrm xmlns:a="http://schemas.openxmlformats.org/drawingml/2006/main">
            <a:off x="3695700" y="4686300"/>
            <a:ext cx="765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Kontrolle und Policy über die dokumentierte Herkunft auf die Vorgabe zurückführen.</a:t>
            </a:r>
          </a:p>
        </p:txBody>
      </p:sp>
      <p:sp>
        <p:nvSpPr>
          <p:cNvPr id="9" name="">
            <a:extLst xmlns:a="http://schemas.openxmlformats.org/drawingml/2006/main">
              <a:ext uri="{FF2B5EF4-FFF2-40B4-BE49-F238E27FC236}">
                <a16:creationId xmlns:a16="http://schemas.microsoft.com/office/drawing/2014/main" id="{040FCC3D-D482-4E11-95EF-DB3A8DC5CD99}"/>
              </a:ext>
            </a:extLst>
          </p:cNvPr>
          <p:cNvSpPr>
            <a:spLocks xmlns:a="http://schemas.openxmlformats.org/drawingml/2006/main" noGrp="1"/>
          </p:cNvSpPr>
          <p:nvPr/>
        </p:nvSpPr>
        <p:spPr>
          <a:xfrm xmlns:a="http://schemas.openxmlformats.org/drawingml/2006/main">
            <a:off x="762000" y="6305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0">
                <a:solidFill>
                  <a:srgbClr val="DCE9EB"/>
                </a:solidFill>
                <a:latin typeface="Arial"/>
                <a:ea typeface="Arial"/>
                <a:cs typeface="Arial"/>
              </a:defRPr>
            </a:pPr>
            <a:r>
              <a:rPr sz="1200" b="0">
                <a:solidFill>
                  <a:srgbClr val="DCE9EB"/>
                </a:solidFill>
                <a:latin typeface="Arial"/>
                <a:ea typeface="Arial"/>
                <a:cs typeface="Arial"/>
              </a:rPr>
              <a:t>11. September 2026     16 / 16</a:t>
            </a:r>
          </a:p>
        </p:txBody>
      </p:sp>
    </p:spTree>
    <p:extLst>
      <p:ext uri="{BB962C8B-B14F-4D97-AF65-F5344CB8AC3E}">
        <p14:creationId xmlns:p14="http://schemas.microsoft.com/office/powerpoint/2010/main" val="3654558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2026-09-11T16:31:03.6420000Z</dcterms:created>
  <dcterms:modified xsi:type="dcterms:W3CDTF">2026-09-11T16:31:03.6420000Z</dcterms:modified>
</coreProperties>
</file>