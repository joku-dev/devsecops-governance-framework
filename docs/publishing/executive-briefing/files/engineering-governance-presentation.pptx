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003022ccce4c3c" /><Relationship Type="http://schemas.openxmlformats.org/officeDocument/2006/relationships/extended-properties" Target="/docProps/app.xml" Id="R82c67427a76a4458" /><Relationship Type="http://schemas.openxmlformats.org/officeDocument/2006/relationships/officeDocument" Target="/ppt/presentation.xml" Id="R6f875e5c0a6a4003" /></Relationships>
</file>

<file path=ppt/presentation.xml><?xml version="1.0" encoding="utf-8"?>
<p:presentation xmlns:p="http://schemas.openxmlformats.org/presentationml/2006/main">
  <p:sldMasterIdLst>
    <p:sldMasterId xmlns:r="http://schemas.openxmlformats.org/officeDocument/2006/relationships" id="2147483648" r:id="Rb90599b7f2104654"/>
  </p:sldMasterIdLst>
  <p:notesMasterIdLst>
    <p:notesMasterId xmlns:r="http://schemas.openxmlformats.org/officeDocument/2006/relationships" r:id="R18e912e2d3dd40d2"/>
  </p:notesMasterIdLst>
  <p:sldIdLst>
    <p:sldId xmlns:r="http://schemas.openxmlformats.org/officeDocument/2006/relationships" id="256" r:id="R279f3672d6174d2e"/>
    <p:sldId xmlns:r="http://schemas.openxmlformats.org/officeDocument/2006/relationships" id="257" r:id="R3a4a471ba2a54584"/>
    <p:sldId xmlns:r="http://schemas.openxmlformats.org/officeDocument/2006/relationships" id="258" r:id="Rfab56cc9c0b64536"/>
    <p:sldId xmlns:r="http://schemas.openxmlformats.org/officeDocument/2006/relationships" id="259" r:id="Rbc074808c1784189"/>
    <p:sldId xmlns:r="http://schemas.openxmlformats.org/officeDocument/2006/relationships" id="260" r:id="R0defbd9d61df4426"/>
    <p:sldId xmlns:r="http://schemas.openxmlformats.org/officeDocument/2006/relationships" id="261" r:id="Rcdad902a3ef648f3"/>
    <p:sldId xmlns:r="http://schemas.openxmlformats.org/officeDocument/2006/relationships" id="262" r:id="R7f1865abd1154ff7"/>
    <p:sldId xmlns:r="http://schemas.openxmlformats.org/officeDocument/2006/relationships" id="263" r:id="R9b892179c82b4059"/>
    <p:sldId xmlns:r="http://schemas.openxmlformats.org/officeDocument/2006/relationships" id="264" r:id="R4bc947b6cade4c48"/>
    <p:sldId xmlns:r="http://schemas.openxmlformats.org/officeDocument/2006/relationships" id="265" r:id="R4ab201b0c361474d"/>
    <p:sldId xmlns:r="http://schemas.openxmlformats.org/officeDocument/2006/relationships" id="266" r:id="R988722dfd3634b91"/>
    <p:sldId xmlns:r="http://schemas.openxmlformats.org/officeDocument/2006/relationships" id="267" r:id="R6d6d1202e7074c0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9cbc00b11c47c1" /><Relationship Type="http://schemas.openxmlformats.org/officeDocument/2006/relationships/slideMaster" Target="/ppt/slideMasters/slideMaster1.xml" Id="Rb90599b7f2104654" /><Relationship Type="http://schemas.openxmlformats.org/officeDocument/2006/relationships/notesMaster" Target="/ppt/notesMasters/notesMaster1.xml" Id="R18e912e2d3dd40d2" /><Relationship Type="http://schemas.openxmlformats.org/officeDocument/2006/relationships/presProps" Target="/ppt/presProps.xml" Id="R3eaff9a042874cdf" /><Relationship Type="http://schemas.openxmlformats.org/officeDocument/2006/relationships/tableStyles" Target="/ppt/tableStyles.xml" Id="Ra775e9bff4fd4340" /><Relationship Type="http://schemas.openxmlformats.org/officeDocument/2006/relationships/slide" Target="/ppt/slides/slide1.xml" Id="R279f3672d6174d2e" /><Relationship Type="http://schemas.openxmlformats.org/officeDocument/2006/relationships/slide" Target="/ppt/slides/slide2.xml" Id="R3a4a471ba2a54584" /><Relationship Type="http://schemas.openxmlformats.org/officeDocument/2006/relationships/slide" Target="/ppt/slides/slide3.xml" Id="Rfab56cc9c0b64536" /><Relationship Type="http://schemas.openxmlformats.org/officeDocument/2006/relationships/slide" Target="/ppt/slides/slide4.xml" Id="Rbc074808c1784189" /><Relationship Type="http://schemas.openxmlformats.org/officeDocument/2006/relationships/slide" Target="/ppt/slides/slide5.xml" Id="R0defbd9d61df4426" /><Relationship Type="http://schemas.openxmlformats.org/officeDocument/2006/relationships/slide" Target="/ppt/slides/slide6.xml" Id="Rcdad902a3ef648f3" /><Relationship Type="http://schemas.openxmlformats.org/officeDocument/2006/relationships/slide" Target="/ppt/slides/slide7.xml" Id="R7f1865abd1154ff7" /><Relationship Type="http://schemas.openxmlformats.org/officeDocument/2006/relationships/slide" Target="/ppt/slides/slide8.xml" Id="R9b892179c82b4059" /><Relationship Type="http://schemas.openxmlformats.org/officeDocument/2006/relationships/slide" Target="/ppt/slides/slide9.xml" Id="R4bc947b6cade4c48" /><Relationship Type="http://schemas.openxmlformats.org/officeDocument/2006/relationships/slide" Target="/ppt/slides/slide10.xml" Id="R4ab201b0c361474d" /><Relationship Type="http://schemas.openxmlformats.org/officeDocument/2006/relationships/slide" Target="/ppt/slides/slide11.xml" Id="R988722dfd3634b91" /><Relationship Type="http://schemas.openxmlformats.org/officeDocument/2006/relationships/slide" Target="/ppt/slides/slide12.xml" Id="R6d6d1202e7074c0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bbf67bf61d48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12f17a40844a75" /><Relationship Type="http://schemas.openxmlformats.org/officeDocument/2006/relationships/notesMaster" Target="/ppt/notesMasters/notesMaster1.xml" Id="R6a326c7faef249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1ec0b5414b407f" /><Relationship Type="http://schemas.openxmlformats.org/officeDocument/2006/relationships/notesMaster" Target="/ppt/notesMasters/notesMaster1.xml" Id="R7bb27c22d4d54c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491d1c2978458c" /><Relationship Type="http://schemas.openxmlformats.org/officeDocument/2006/relationships/notesMaster" Target="/ppt/notesMasters/notesMaster1.xml" Id="R19134b25ffc143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5c7d68e1744908" /><Relationship Type="http://schemas.openxmlformats.org/officeDocument/2006/relationships/notesMaster" Target="/ppt/notesMasters/notesMaster1.xml" Id="R4b1f831f6c7340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84447c6cf34278" /><Relationship Type="http://schemas.openxmlformats.org/officeDocument/2006/relationships/notesMaster" Target="/ppt/notesMasters/notesMaster1.xml" Id="Rac91b3b1b25a4a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37e39efb1f4f4e" /><Relationship Type="http://schemas.openxmlformats.org/officeDocument/2006/relationships/notesMaster" Target="/ppt/notesMasters/notesMaster1.xml" Id="R73a781616d0949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eaa394b07c4bc8" /><Relationship Type="http://schemas.openxmlformats.org/officeDocument/2006/relationships/notesMaster" Target="/ppt/notesMasters/notesMaster1.xml" Id="Rc34cb90c9ce74c7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bbba8c8db54bcc" /><Relationship Type="http://schemas.openxmlformats.org/officeDocument/2006/relationships/notesMaster" Target="/ppt/notesMasters/notesMaster1.xml" Id="Ra2018d0d20ed48d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df165dfe99463f" /><Relationship Type="http://schemas.openxmlformats.org/officeDocument/2006/relationships/notesMaster" Target="/ppt/notesMasters/notesMaster1.xml" Id="Rfe5a036ad9b24b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b9e279d88b49ae" /><Relationship Type="http://schemas.openxmlformats.org/officeDocument/2006/relationships/notesMaster" Target="/ppt/notesMasters/notesMaster1.xml" Id="Rb62a95d8c78849e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be8c502f9214579" /><Relationship Type="http://schemas.openxmlformats.org/officeDocument/2006/relationships/notesMaster" Target="/ppt/notesMasters/notesMaster1.xml" Id="Rb3befebf62d04c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80a4f197f94176" /><Relationship Type="http://schemas.openxmlformats.org/officeDocument/2006/relationships/notesMaster" Target="/ppt/notesMasters/notesMaster1.xml" Id="R063b97e4692344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Ziel ist eine Entscheidung über einen kontrollierten Testbetrieb. Die Plattform verbindet fachliche Vorgaben mit ausgewählten automatisierten Prüfungen. Der Vortrag beschreibt den Stand vom 11. September 2026 und keine bestätigte unternehmensweite Betriebsreife.</a:t>
            </a:r>
          </a:p>
          <a:p xmlns:a="http://schemas.openxmlformats.org/drawingml/2006/main">
            <a:r>
              <a:t/>
            </a:r>
          </a:p>
          <a:p xmlns:a="http://schemas.openxmlformats.org/drawingml/2006/main">
            <a:r>
              <a:t>Quellstand: 4abe88294f299d7f801c74ff0161df234960c092</a:t>
            </a:r>
          </a:p>
          <a:p xmlns:a="http://schemas.openxmlformats.org/drawingml/2006/main">
            <a:r>
              <a:t>[1] Vision und aktuelle Ausrichtung</a:t>
            </a:r>
          </a:p>
          <a:p xmlns:a="http://schemas.openxmlformats.org/drawingml/2006/main">
            <a:r>
              <a:t>https://github.com/joku-dev/devsecops-governance-framework/blob/4abe88294f299d7f801c74ff0161df234960c092/docs/foundation/05_CURRENT_DIRECTION.md</a:t>
            </a:r>
          </a:p>
          <a:p xmlns:a="http://schemas.openxmlformats.org/drawingml/2006/main">
            <a:r>
              <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zwei Wochen sind ein Vorschlag für die Beobachtung nach der Vorbereitung. Es gibt noch keine Aufwandsschätzung oder Budgetfreigabe. Ein Pilotbeschluss erlaubt keine neuen verbindlichen Lieferstopps.</a:t>
            </a:r>
          </a:p>
          <a:p xmlns:a="http://schemas.openxmlformats.org/drawingml/2006/main">
            <a:r>
              <a:t/>
            </a:r>
          </a:p>
          <a:p xmlns:a="http://schemas.openxmlformats.org/drawingml/2006/main">
            <a:r>
              <a:t>Quellstand: 4abe88294f299d7f801c74ff0161df234960c092</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[7] Voraussetzungen für verbindliche Prüfungen</a:t>
            </a:r>
          </a:p>
          <a:p xmlns:a="http://schemas.openxmlformats.org/drawingml/2006/main">
            <a:r>
              <a:t>https://github.com/joku-dev/devsecops-governance-framework/blob/4abe88294f299d7f801c74ff0161df234960c092/generated/reports/blocking-readiness.json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ist die Problemstellung des Projekts. Die konkrete Ausgangslage und der heutige Aufwand müssen für die Pilotanwendungen noch erhoben werden.</a:t>
            </a:r>
          </a:p>
          <a:p xmlns:a="http://schemas.openxmlformats.org/drawingml/2006/main">
            <a:r>
              <a:t/>
            </a:r>
          </a:p>
          <a:p xmlns:a="http://schemas.openxmlformats.org/drawingml/2006/main">
            <a:r>
              <a:t>Quellstand: 4abe88294f299d7f801c74ff0161df234960c092</a:t>
            </a:r>
          </a:p>
          <a:p xmlns:a="http://schemas.openxmlformats.org/drawingml/2006/main">
            <a:r>
              <a:t>[1] Vision und aktuelle Ausrichtung</a:t>
            </a:r>
          </a:p>
          <a:p xmlns:a="http://schemas.openxmlformats.org/drawingml/2006/main">
            <a:r>
              <a:t>https://github.com/joku-dev/devsecops-governance-framework/blob/4abe88294f299d7f801c74ff0161df234960c092/docs/foundation/05_CURRENT_DIRECTION.md</a:t>
            </a:r>
          </a:p>
          <a:p xmlns:a="http://schemas.openxmlformats.org/drawingml/2006/main">
            <a:r>
              <a:t/>
            </a:r>
          </a:p>
          <a:p xmlns:a="http://schemas.openxmlformats.org/drawingml/2006/main">
            <a:r>
              <a:t>[3] Architektonische Grundsätze und menschliche Verantwortung</a:t>
            </a:r>
          </a:p>
          <a:p xmlns:a="http://schemas.openxmlformats.org/drawingml/2006/main">
            <a:r>
              <a:t>https://github.com/joku-dev/devsecops-governance-framework/blob/4abe88294f299d7f801c74ff0161df234960c092/docs/foundation/02_CONSTITUTION.md</a:t>
            </a:r>
          </a:p>
          <a:p xmlns:a="http://schemas.openxmlformats.org/drawingml/2006/main">
            <a:r>
              <a:t/>
            </a:r>
          </a:p>
          <a:p xmlns:a="http://schemas.openxmlformats.org/drawingml/2006/main">
            <a:r>
              <a:t>[4] Vertrag für Nachweise</a:t>
            </a:r>
          </a:p>
          <a:p xmlns:a="http://schemas.openxmlformats.org/drawingml/2006/main">
            <a:r>
              <a:t>https://github.com/joku-dev/devsecops-governance-framework/blob/4abe88294f299d7f801c74ff0161df234960c092/docs/operations/evidence/governance-evidence-contract.md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 liegen keine belastbaren ROI- oder Einsparungswerte vor. Dieselben ausgewählten Aufgaben sollen vor und während der Erprobung beobachtet werden. Eine kleine Stichprobe liefert eine erste Einschätzung.</a:t>
            </a:r>
          </a:p>
          <a:p xmlns:a="http://schemas.openxmlformats.org/drawingml/2006/main">
            <a:r>
              <a:t/>
            </a:r>
          </a:p>
          <a:p xmlns:a="http://schemas.openxmlformats.org/drawingml/2006/main">
            <a:r>
              <a:t>Quellstand: 4abe88294f299d7f801c74ff0161df234960c092</a:t>
            </a:r>
          </a:p>
          <a:p xmlns:a="http://schemas.openxmlformats.org/drawingml/2006/main">
            <a:r>
              <a:t>[4] Vertrag für Nachweise</a:t>
            </a:r>
          </a:p>
          <a:p xmlns:a="http://schemas.openxmlformats.org/drawingml/2006/main">
            <a:r>
              <a:t>https://github.com/joku-dev/devsecops-governance-framework/blob/4abe88294f299d7f801c74ff0161df234960c092/docs/operations/evidence/governance-evidence-contract.md</a:t>
            </a:r>
          </a:p>
          <a:p xmlns:a="http://schemas.openxmlformats.org/drawingml/2006/main">
            <a:r>
              <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[9] Täglicher Betriebsbericht</a:t>
            </a:r>
          </a:p>
          <a:p xmlns:a="http://schemas.openxmlformats.org/drawingml/2006/main">
            <a:r>
              <a:t>https://github.com/joku-dev/devsecops-governance-framework/blob/4abe88294f299d7f801c74ff0161df234960c092/docs/operations/status/daily-governance-operations.md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vier Ebenen beschreiben die Architektur. Heute bilden GitHub Actions und OPA die Referenzimplementierung. Plattformunabhängigkeit ist das Ziel, keine Zusage bereits gleichwertig erprobter Adapter.</a:t>
            </a:r>
          </a:p>
          <a:p xmlns:a="http://schemas.openxmlformats.org/drawingml/2006/main">
            <a:r>
              <a:t/>
            </a:r>
          </a:p>
          <a:p xmlns:a="http://schemas.openxmlformats.org/drawingml/2006/main">
            <a:r>
              <a:t>Quellstand: 4abe88294f299d7f801c74ff0161df234960c092</a:t>
            </a:r>
          </a:p>
          <a:p xmlns:a="http://schemas.openxmlformats.org/drawingml/2006/main">
            <a:r>
              <a:t>[2] Architektur und Schnittstellen</a:t>
            </a:r>
          </a:p>
          <a:p xmlns:a="http://schemas.openxmlformats.org/drawingml/2006/main">
            <a:r>
              <a:t>https://github.com/joku-dev/devsecops-governance-framework/blob/4abe88294f299d7f801c74ff0161df234960c092/docs/foundation/04_REFERENCE_ARCHITECTURE.md</a:t>
            </a:r>
          </a:p>
          <a:p xmlns:a="http://schemas.openxmlformats.org/drawingml/2006/main">
            <a:r>
              <a:t/>
            </a:r>
          </a:p>
          <a:p xmlns:a="http://schemas.openxmlformats.org/drawingml/2006/main">
            <a:r>
              <a:t>[4] Vertrag für Nachweise</a:t>
            </a:r>
          </a:p>
          <a:p xmlns:a="http://schemas.openxmlformats.org/drawingml/2006/main">
            <a:r>
              <a:t>https://github.com/joku-dev/devsecops-governance-framework/blob/4abe88294f299d7f801c74ff0161df234960c092/docs/operations/evidence/governance-evidence-contract.md</a:t>
            </a:r>
          </a:p>
          <a:p xmlns:a="http://schemas.openxmlformats.org/drawingml/2006/main">
            <a:r>
              <a:t/>
            </a:r>
          </a:p>
          <a:p xmlns:a="http://schemas.openxmlformats.org/drawingml/2006/main">
            <a:r>
              <a:t>[6] Ergebnisaufnahme und Statusanzeige</a:t>
            </a:r>
          </a:p>
          <a:p xmlns:a="http://schemas.openxmlformats.org/drawingml/2006/main">
            <a:r>
              <a:t>https://github.com/joku-dev/devsecops-governance-framework/blob/4abe88294f299d7f801c74ff0161df234960c092/docs/operations/evidence/governance-result-intake-and-viewer-usage.md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Individuelle Personen und Stellvertretungen müssen vor Pilotbeginn benannt werden. Ein erfolgreicher automatisierter Lauf bedeutet keine pauschale Sicherheits-, Compliance- oder Produktionsfreigabe.</a:t>
            </a:r>
          </a:p>
          <a:p xmlns:a="http://schemas.openxmlformats.org/drawingml/2006/main">
            <a:r>
              <a:t/>
            </a:r>
          </a:p>
          <a:p xmlns:a="http://schemas.openxmlformats.org/drawingml/2006/main">
            <a:r>
              <a:t>Quellstand: 4abe88294f299d7f801c74ff0161df234960c092</a:t>
            </a:r>
          </a:p>
          <a:p xmlns:a="http://schemas.openxmlformats.org/drawingml/2006/main">
            <a:r>
              <a:t>[3] Architektonische Grundsätze und menschliche Verantwortung</a:t>
            </a:r>
          </a:p>
          <a:p xmlns:a="http://schemas.openxmlformats.org/drawingml/2006/main">
            <a:r>
              <a:t>https://github.com/joku-dev/devsecops-governance-framework/blob/4abe88294f299d7f801c74ff0161df234960c092/docs/foundation/02_CONSTITUTION.md</a:t>
            </a:r>
          </a:p>
          <a:p xmlns:a="http://schemas.openxmlformats.org/drawingml/2006/main">
            <a:r>
              <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[11] Zugänge und Tokenpflege</a:t>
            </a:r>
          </a:p>
          <a:p xmlns:a="http://schemas.openxmlformats.org/drawingml/2006/main">
            <a:r>
              <a:t>https://github.com/joku-dev/devsecops-governance-framework/blob/4abe88294f299d7f801c74ff0161df234960c092/docs/operations/security/github-access-and-token-maintenance.md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Quellstand 4abe882 enthält veröffentlichte Baselines, geschützte PR-Abläufe und tägliche Betriebsberichte. Governance CI, CodeQL, Self-Security und Dokumentationsveröffentlichung waren erfolgreich. Neue reale Ergebnisse für drei Consumer sind angenommen. Die Tabelle trennt technische Verfügbarkeit von längerfristiger Betriebserprobung.</a:t>
            </a:r>
          </a:p>
          <a:p xmlns:a="http://schemas.openxmlformats.org/drawingml/2006/main">
            <a:r>
              <a:t/>
            </a:r>
          </a:p>
          <a:p xmlns:a="http://schemas.openxmlformats.org/drawingml/2006/main">
            <a:r>
              <a:t>Quellstand: 4abe88294f299d7f801c74ff0161df234960c092</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[8] Angenommene DevSecOps-Ergebnisse und Trust-Kontext</a:t>
            </a:r>
          </a:p>
          <a:p xmlns:a="http://schemas.openxmlformats.org/drawingml/2006/main">
            <a:r>
              <a:t>https://github.com/joku-dev/devsecops-governance-framework/blob/4abe88294f299d7f801c74ff0161df234960c092/status/repository-results-index.json</a:t>
            </a:r>
          </a:p>
          <a:p xmlns:a="http://schemas.openxmlformats.org/drawingml/2006/main">
            <a:r>
              <a:t/>
            </a:r>
          </a:p>
          <a:p xmlns:a="http://schemas.openxmlformats.org/drawingml/2006/main">
            <a:r>
              <a:t>[9] Täglicher Betriebsbericht</a:t>
            </a:r>
          </a:p>
          <a:p xmlns:a="http://schemas.openxmlformats.org/drawingml/2006/main">
            <a:r>
              <a:t>https://github.com/joku-dev/devsecops-governance-framework/blob/4abe88294f299d7f801c74ff0161df234960c092/docs/operations/status/daily-governance-operations.md</a:t>
            </a:r>
          </a:p>
          <a:p xmlns:a="http://schemas.openxmlformats.org/drawingml/2006/main">
            <a:r>
              <a:t/>
            </a:r>
          </a:p>
          <a:p xmlns:a="http://schemas.openxmlformats.org/drawingml/2006/main">
            <a:r>
              <a:t>[13] Governance CI am betrachteten main-Stand</a:t>
            </a:r>
          </a:p>
          <a:p xmlns:a="http://schemas.openxmlformats.org/drawingml/2006/main">
            <a:r>
              <a:t>https://github.com/joku-dev/devsecops-governance-framework/actions/runs/34611502655</a:t>
            </a:r>
          </a:p>
          <a:p xmlns:a="http://schemas.openxmlformats.org/drawingml/2006/main">
            <a:r>
              <a:t/>
            </a:r>
          </a:p>
          <a:p xmlns:a="http://schemas.openxmlformats.org/drawingml/2006/main">
            <a:r>
              <a:t>[14] CodeQL am betrachteten main-Stand</a:t>
            </a:r>
          </a:p>
          <a:p xmlns:a="http://schemas.openxmlformats.org/drawingml/2006/main">
            <a:r>
              <a:t>https://github.com/joku-dev/devsecops-governance-framework/actions/runs/34611502609</a:t>
            </a:r>
          </a:p>
          <a:p xmlns:a="http://schemas.openxmlformats.org/drawingml/2006/main">
            <a:r>
              <a:t/>
            </a:r>
          </a:p>
          <a:p xmlns:a="http://schemas.openxmlformats.org/drawingml/2006/main">
            <a:r>
              <a:t>[15] Dokumentationsveröffentlichung am betrachteten main-Stand</a:t>
            </a:r>
          </a:p>
          <a:p xmlns:a="http://schemas.openxmlformats.org/drawingml/2006/main">
            <a:r>
              <a:t>https://github.com/joku-dev/devsecops-governance-framework/actions/runs/34611502982</a:t>
            </a:r>
          </a:p>
          <a:p xmlns:a="http://schemas.openxmlformats.org/drawingml/2006/main">
            <a:r>
              <a:t/>
            </a:r>
          </a:p>
          <a:p xmlns:a="http://schemas.openxmlformats.org/drawingml/2006/main">
            <a:r>
              <a:t>[16] Repository-Sicherheitsprüfung am betrachteten main-Stand</a:t>
            </a:r>
          </a:p>
          <a:p xmlns:a="http://schemas.openxmlformats.org/drawingml/2006/main">
            <a:r>
              <a:t>https://github.com/joku-dev/devsecops-governance-framework/actions/runs/34611502768</a:t>
            </a:r>
          </a:p>
          <a:p xmlns:a="http://schemas.openxmlformats.org/drawingml/2006/main">
            <a:r>
              <a:t/>
            </a:r>
          </a:p>
          <a:p xmlns:a="http://schemas.openxmlformats.org/drawingml/2006/main">
            <a:r>
              <a:t>[18] Portfolio am 11. September 2026</a:t>
            </a:r>
          </a:p>
          <a:p xmlns:a="http://schemas.openxmlformats.org/drawingml/2006/main">
            <a:r>
              <a:t>https://github.com/joku-dev/devsecops-governance-framework/blob/4abe88294f299d7f801c74ff0161df234960c092/generated/reports/portfolio-onboarding-status.json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Neue main-push-Läufe: DevSecOps 34602002201, Architektur 34602001140, Consumer-Commit 6976bb2af2b9d47d2934273c444b6c9b62a81ea2. 16 von 16 anwendbaren Controls bestehen, 30 weitere sind nicht anwendbar. Architektur: vier von vier Gates, null Befunde. Der separate DevSecOps-Replay-Check bleibt fehlgeschlagen. Die Factory meldet einen Branchschutz-Befund, der neutrale Demo-Consumer 25 Architektur-Befunde. Dessen DevSecOps-pass ist ein einzelnes zusammengefasstes Baseline-Gate. Das Portfolio enthält drei Consumer ohne veraltete oder fehlende Ergebnisse im Beobachtungszeitpunkt. Diese Nachweise sind keine Produktionsfreigabe.</a:t>
            </a:r>
          </a:p>
          <a:p xmlns:a="http://schemas.openxmlformats.org/drawingml/2006/main">
            <a:r>
              <a:t/>
            </a:r>
          </a:p>
          <a:p xmlns:a="http://schemas.openxmlformats.org/drawingml/2006/main">
            <a:r>
              <a:t>Quellstand: 4abe88294f299d7f801c74ff0161df234960c092</a:t>
            </a:r>
          </a:p>
          <a:p xmlns:a="http://schemas.openxmlformats.org/drawingml/2006/main">
            <a:r>
              <a:t>[8] Angenommene DevSecOps-Ergebnisse und Trust-Kontext</a:t>
            </a:r>
          </a:p>
          <a:p xmlns:a="http://schemas.openxmlformats.org/drawingml/2006/main">
            <a:r>
              <a:t>https://github.com/joku-dev/devsecops-governance-framework/blob/4abe88294f299d7f801c74ff0161df234960c092/status/repository-results-index.json</a:t>
            </a:r>
          </a:p>
          <a:p xmlns:a="http://schemas.openxmlformats.org/drawingml/2006/main">
            <a:r>
              <a:t/>
            </a:r>
          </a:p>
          <a:p xmlns:a="http://schemas.openxmlformats.org/drawingml/2006/main">
            <a:r>
              <a:t>[17] Angenommene Architektur-Ergebnisse</a:t>
            </a:r>
          </a:p>
          <a:p xmlns:a="http://schemas.openxmlformats.org/drawingml/2006/main">
            <a:r>
              <a:t>https://github.com/joku-dev/devsecops-governance-framework/blob/4abe88294f299d7f801c74ff0161df234960c092/status/architecture-results-index.json</a:t>
            </a:r>
          </a:p>
          <a:p xmlns:a="http://schemas.openxmlformats.org/drawingml/2006/main">
            <a:r>
              <a:t/>
            </a:r>
          </a:p>
          <a:p xmlns:a="http://schemas.openxmlformats.org/drawingml/2006/main">
            <a:r>
              <a:t>[18] Portfolio am 11. September 2026</a:t>
            </a:r>
          </a:p>
          <a:p xmlns:a="http://schemas.openxmlformats.org/drawingml/2006/main">
            <a:r>
              <a:t>https://github.com/joku-dev/devsecops-governance-framework/blob/4abe88294f299d7f801c74ff0161df234960c092/generated/reports/portfolio-onboarding-status.json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Bewertungsstand: generated_at 2026-09-11T14:34:14Z, drei Integrationen, null ready, drei not_ready und eine bereits blockierende Integration unterhalb der neuen Anforderungen. Aktuelle Typed Evidence des neutralen Consumers ist angenommen, weitere Trust-, Architektur- und Betriebskriterien bleiben offen. Der Bestandsmodus ist keine Freigabe für neues Blocking. Ein erfolgreicher Workflow allein genügt nicht.</a:t>
            </a:r>
          </a:p>
          <a:p xmlns:a="http://schemas.openxmlformats.org/drawingml/2006/main">
            <a:r>
              <a:t/>
            </a:r>
          </a:p>
          <a:p xmlns:a="http://schemas.openxmlformats.org/drawingml/2006/main">
            <a:r>
              <a:t>Quellstand: 4abe88294f299d7f801c74ff0161df234960c092</a:t>
            </a:r>
          </a:p>
          <a:p xmlns:a="http://schemas.openxmlformats.org/drawingml/2006/main">
            <a:r>
              <a:t>[7] Voraussetzungen für verbindliche Prüfungen</a:t>
            </a:r>
          </a:p>
          <a:p xmlns:a="http://schemas.openxmlformats.org/drawingml/2006/main">
            <a:r>
              <a:t>https://github.com/joku-dev/devsecops-governance-framework/blob/4abe88294f299d7f801c74ff0161df234960c092/generated/reports/blocking-readiness.json</a:t>
            </a:r>
          </a:p>
          <a:p xmlns:a="http://schemas.openxmlformats.org/drawingml/2006/main">
            <a:r>
              <a:t/>
            </a:r>
          </a:p>
          <a:p xmlns:a="http://schemas.openxmlformats.org/drawingml/2006/main">
            <a:r>
              <a:t>[12] Umgang mit dem bestehenden Blocking-Risiko</a:t>
            </a:r>
          </a:p>
          <a:p xmlns:a="http://schemas.openxmlformats.org/drawingml/2006/main">
            <a:r>
              <a:t>https://github.com/joku-dev/devsecops-governance-framework/blob/4abe88294f299d7f801c74ff0161df234960c092/docs/operations/status/blocking-mode-alignment.md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Vorbereitung muss vor Beginn der Beobachtung abgeschlossen sein. Absichtliche Fehler werden in einem vereinbarten isolierten Kontext getestet. Produktive Nachweise dürfen nicht zur Simulation umgeschrieben werden.</a:t>
            </a:r>
          </a:p>
          <a:p xmlns:a="http://schemas.openxmlformats.org/drawingml/2006/main">
            <a:r>
              <a:t/>
            </a:r>
          </a:p>
          <a:p xmlns:a="http://schemas.openxmlformats.org/drawingml/2006/main">
            <a:r>
              <a:t>Quellstand: 4abe88294f299d7f801c74ff0161df234960c092</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[6] Ergebnisaufnahme und Statusanzeige</a:t>
            </a:r>
          </a:p>
          <a:p xmlns:a="http://schemas.openxmlformats.org/drawingml/2006/main">
            <a:r>
              <a:t>https://github.com/joku-dev/devsecops-governance-framework/blob/4abe88294f299d7f801c74ff0161df234960c092/docs/operations/evidence/governance-result-intake-and-viewer-usage.md</a:t>
            </a:r>
          </a:p>
          <a:p xmlns:a="http://schemas.openxmlformats.org/drawingml/2006/main">
            <a:r>
              <a:t/>
            </a:r>
          </a:p>
          <a:p xmlns:a="http://schemas.openxmlformats.org/drawingml/2006/main">
            <a:r>
              <a:t>[10] Sicherung und Wiederherstellung</a:t>
            </a:r>
          </a:p>
          <a:p xmlns:a="http://schemas.openxmlformats.org/drawingml/2006/main">
            <a:r>
              <a:t>https://github.com/joku-dev/devsecops-governance-framework/blob/4abe88294f299d7f801c74ff0161df234960c092/docs/operations/processes/governance-repository-backup-and-recovery.md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aktuellen Pilot ist keine zusätzliche Datenbank erforderlich. Die Aufwände sind noch nicht für das Unternehmen beziffert. Der Bericht läuft täglich um 06:43 UTC und sendet selbst keine Warnmeldungen. Zugangspflege, externe Sicherung und Stellvertretung bleiben Aufgaben des Betriebs.</a:t>
            </a:r>
          </a:p>
          <a:p xmlns:a="http://schemas.openxmlformats.org/drawingml/2006/main">
            <a:r>
              <a:t/>
            </a:r>
          </a:p>
          <a:p xmlns:a="http://schemas.openxmlformats.org/drawingml/2006/main">
            <a:r>
              <a:t>Quellstand: 4abe88294f299d7f801c74ff0161df234960c092</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[9] Täglicher Betriebsbericht</a:t>
            </a:r>
          </a:p>
          <a:p xmlns:a="http://schemas.openxmlformats.org/drawingml/2006/main">
            <a:r>
              <a:t>https://github.com/joku-dev/devsecops-governance-framework/blob/4abe88294f299d7f801c74ff0161df234960c092/docs/operations/status/daily-governance-operations.md</a:t>
            </a:r>
          </a:p>
          <a:p xmlns:a="http://schemas.openxmlformats.org/drawingml/2006/main">
            <a:r>
              <a:t/>
            </a:r>
          </a:p>
          <a:p xmlns:a="http://schemas.openxmlformats.org/drawingml/2006/main">
            <a:r>
              <a:t>[10] Sicherung und Wiederherstellung</a:t>
            </a:r>
          </a:p>
          <a:p xmlns:a="http://schemas.openxmlformats.org/drawingml/2006/main">
            <a:r>
              <a:t>https://github.com/joku-dev/devsecops-governance-framework/blob/4abe88294f299d7f801c74ff0161df234960c092/docs/operations/processes/governance-repository-backup-and-recovery.md</a:t>
            </a:r>
          </a:p>
          <a:p xmlns:a="http://schemas.openxmlformats.org/drawingml/2006/main">
            <a:r>
              <a:t/>
            </a:r>
          </a:p>
          <a:p xmlns:a="http://schemas.openxmlformats.org/drawingml/2006/main">
            <a:r>
              <a:t>[11] Zugänge und Tokenpflege</a:t>
            </a:r>
          </a:p>
          <a:p xmlns:a="http://schemas.openxmlformats.org/drawingml/2006/main">
            <a:r>
              <a:t>https://github.com/joku-dev/devsecops-governance-framework/blob/4abe88294f299d7f801c74ff0161df234960c092/docs/operations/security/github-access-and-token-maintenance.md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Empfehlung: begrenzten Pilot vorbereiten, keine pauschale Produktionsfreigabe. Die vollständigen Quellen und die ausführliche Einordnung stehen im begleitenden Whitepaper. Alle Quellen dieser Präsentation sind zusätzlich in den jeweiligen Sprechernotizen verlinkt.</a:t>
            </a:r>
          </a:p>
          <a:p xmlns:a="http://schemas.openxmlformats.org/drawingml/2006/main">
            <a:r>
              <a:t/>
            </a:r>
          </a:p>
          <a:p xmlns:a="http://schemas.openxmlformats.org/drawingml/2006/main">
            <a:r>
              <a:t>Quellstand: 4abe88294f299d7f801c74ff0161df234960c092</a:t>
            </a:r>
          </a:p>
          <a:p xmlns:a="http://schemas.openxmlformats.org/drawingml/2006/main">
            <a:r>
              <a:t>[1] Vision und aktuelle Ausrichtung</a:t>
            </a:r>
          </a:p>
          <a:p xmlns:a="http://schemas.openxmlformats.org/drawingml/2006/main">
            <a:r>
              <a:t>https://github.com/joku-dev/devsecops-governance-framework/blob/4abe88294f299d7f801c74ff0161df234960c092/docs/foundation/05_CURRENT_DIRECTION.md</a:t>
            </a:r>
          </a:p>
          <a:p xmlns:a="http://schemas.openxmlformats.org/drawingml/2006/main">
            <a:r>
              <a:t/>
            </a:r>
          </a:p>
          <a:p xmlns:a="http://schemas.openxmlformats.org/drawingml/2006/main">
            <a:r>
              <a:t>[3] Architektonische Grundsätze und menschliche Verantwortung</a:t>
            </a:r>
          </a:p>
          <a:p xmlns:a="http://schemas.openxmlformats.org/drawingml/2006/main">
            <a:r>
              <a:t>https://github.com/joku-dev/devsecops-governance-framework/blob/4abe88294f299d7f801c74ff0161df234960c092/docs/foundation/02_CONSTITUTION.md</a:t>
            </a:r>
          </a:p>
          <a:p xmlns:a="http://schemas.openxmlformats.org/drawingml/2006/main">
            <a:r>
              <a:t/>
            </a:r>
          </a:p>
          <a:p xmlns:a="http://schemas.openxmlformats.org/drawingml/2006/main">
            <a:r>
              <a:t>[5] Betriebshandbuch und Pilotkriterien</a:t>
            </a:r>
          </a:p>
          <a:p xmlns:a="http://schemas.openxmlformats.org/drawingml/2006/main">
            <a:r>
              <a:t>https://github.com/joku-dev/devsecops-governance-framework/blob/4abe88294f299d7f801c74ff0161df234960c092/docs/operations/guides/governance-repository-operations-handbook.md</a:t>
            </a:r>
          </a:p>
          <a:p xmlns:a="http://schemas.openxmlformats.org/drawingml/2006/main">
            <a:r>
              <a:t/>
            </a:r>
          </a:p>
          <a:p xmlns:a="http://schemas.openxmlformats.org/drawingml/2006/main">
            <a:r>
              <a:t>[7] Voraussetzungen für verbindliche Prüfungen</a:t>
            </a:r>
          </a:p>
          <a:p xmlns:a="http://schemas.openxmlformats.org/drawingml/2006/main">
            <a:r>
              <a:t>https://github.com/joku-dev/devsecops-governance-framework/blob/4abe88294f299d7f801c74ff0161df234960c092/generated/reports/blocking-readiness.json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bdb86251314a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6dffbc70d5480b" /><Relationship Type="http://schemas.openxmlformats.org/officeDocument/2006/relationships/slideLayout" Target="/ppt/slideLayouts/slideLayout1.xml" Id="Rd4cb74309a284f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cb74309a284f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8f7e31ea744bc0" /><Relationship Type="http://schemas.openxmlformats.org/officeDocument/2006/relationships/notesSlide" Target="/ppt/notesSlides/notesSlide1.xml" Id="R3df7445b43c845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2f5c6f82c54720" /><Relationship Type="http://schemas.openxmlformats.org/officeDocument/2006/relationships/notesSlide" Target="/ppt/notesSlides/notesSlide2.xml" Id="R6f3508a0613c4f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4279c85e0034b99" /><Relationship Type="http://schemas.openxmlformats.org/officeDocument/2006/relationships/notesSlide" Target="/ppt/notesSlides/notesSlide3.xml" Id="R04f8fc8c80c54b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362a7a247704d9d" /><Relationship Type="http://schemas.openxmlformats.org/officeDocument/2006/relationships/notesSlide" Target="/ppt/notesSlides/notesSlide4.xml" Id="R35fb4cf31d5a4a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e8d1c56246415f" /><Relationship Type="http://schemas.openxmlformats.org/officeDocument/2006/relationships/notesSlide" Target="/ppt/notesSlides/notesSlide5.xml" Id="R6002c1209de341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c874b25e19f4912" /><Relationship Type="http://schemas.openxmlformats.org/officeDocument/2006/relationships/notesSlide" Target="/ppt/notesSlides/notesSlide6.xml" Id="R07fa02423d404a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ed2cea6d2034362" /><Relationship Type="http://schemas.openxmlformats.org/officeDocument/2006/relationships/notesSlide" Target="/ppt/notesSlides/notesSlide7.xml" Id="Rdc0fe88a0ac04a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94e19039f994748" /><Relationship Type="http://schemas.openxmlformats.org/officeDocument/2006/relationships/notesSlide" Target="/ppt/notesSlides/notesSlide8.xml" Id="R1efc5d18b96b43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a6eee81b4c4c1d" /><Relationship Type="http://schemas.openxmlformats.org/officeDocument/2006/relationships/notesSlide" Target="/ppt/notesSlides/notesSlide9.xml" Id="R37361191edf445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87e1e395f447ef" /><Relationship Type="http://schemas.openxmlformats.org/officeDocument/2006/relationships/notesSlide" Target="/ppt/notesSlides/notesSlide10.xml" Id="R04e31f83a8424a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5925f8a84f4a27" /><Relationship Type="http://schemas.openxmlformats.org/officeDocument/2006/relationships/notesSlide" Target="/ppt/notesSlides/notesSlide11.xml" Id="Rf69e444e8c5c44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3c54527a1524933" /><Relationship Type="http://schemas.openxmlformats.org/officeDocument/2006/relationships/notesSlide" Target="/ppt/notesSlides/notesSlide12.xml" Id="R909b3e77202a4676" /></Relationships>
</file>

<file path=ppt/slides/slide1.xml><?xml version="1.0" encoding="utf-8"?>
<p:sld xmlns:p="http://schemas.openxmlformats.org/presentationml/2006/main">
  <p:cSld>
    <p:bg>
      <p:bgPr>
        <a:solidFill xmlns:a="http://schemas.openxmlformats.org/drawingml/2006/main">
          <a:srgbClr val="16394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D7186B4-A4D3-48EB-BC0E-84D29AC32C3C}"/>
              </a:ext>
            </a:extLst>
          </p:cNvPr>
          <p:cNvSpPr>
            <a:spLocks xmlns:a="http://schemas.openxmlformats.org/drawingml/2006/main" noGrp="1"/>
          </p:cNvSpPr>
          <p:nvPr/>
        </p:nvSpPr>
        <p:spPr>
          <a:xfrm xmlns:a="http://schemas.openxmlformats.org/drawingml/2006/main">
            <a:off x="781050" y="18288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Engineering Governance</a:t>
            </a:r>
          </a:p>
        </p:txBody>
      </p:sp>
      <p:sp>
        <p:nvSpPr>
          <p:cNvPr id="2" name="">
            <a:extLst xmlns:a="http://schemas.openxmlformats.org/drawingml/2006/main">
              <a:ext uri="{FF2B5EF4-FFF2-40B4-BE49-F238E27FC236}">
                <a16:creationId xmlns:a16="http://schemas.microsoft.com/office/drawing/2014/main" id="{1952CF46-637C-451A-9787-6F3FF35F5F14}"/>
              </a:ext>
            </a:extLst>
          </p:cNvPr>
          <p:cNvSpPr>
            <a:spLocks xmlns:a="http://schemas.openxmlformats.org/drawingml/2006/main" noGrp="1"/>
          </p:cNvSpPr>
          <p:nvPr/>
        </p:nvSpPr>
        <p:spPr>
          <a:xfrm xmlns:a="http://schemas.openxmlformats.org/drawingml/2006/main">
            <a:off x="819150" y="3143250"/>
            <a:ext cx="9429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DCE9EB"/>
                </a:solidFill>
                <a:latin typeface="Arial"/>
                <a:ea typeface="Arial"/>
                <a:cs typeface="Arial"/>
              </a:defRPr>
            </a:pPr>
            <a:r>
              <a:rPr sz="2700" b="0">
                <a:solidFill>
                  <a:srgbClr val="DCE9EB"/>
                </a:solidFill>
                <a:latin typeface="Arial"/>
                <a:ea typeface="Arial"/>
                <a:cs typeface="Arial"/>
              </a:rPr>
              <a:t>Nutzen und Einführung für die Geschäftsführung</a:t>
            </a:r>
          </a:p>
        </p:txBody>
      </p:sp>
      <p:sp>
        <p:nvSpPr>
          <p:cNvPr id="3" name="">
            <a:extLst xmlns:a="http://schemas.openxmlformats.org/drawingml/2006/main">
              <a:ext uri="{FF2B5EF4-FFF2-40B4-BE49-F238E27FC236}">
                <a16:creationId xmlns:a16="http://schemas.microsoft.com/office/drawing/2014/main" id="{B9EA66EE-CCC9-4A4D-8329-8B746FF31B31}"/>
              </a:ext>
            </a:extLst>
          </p:cNvPr>
          <p:cNvSpPr>
            <a:spLocks xmlns:a="http://schemas.openxmlformats.org/drawingml/2006/main" noGrp="1"/>
          </p:cNvSpPr>
          <p:nvPr/>
        </p:nvSpPr>
        <p:spPr>
          <a:xfrm xmlns:a="http://schemas.openxmlformats.org/drawingml/2006/main">
            <a:off x="819150" y="582930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DCE9EB"/>
                </a:solidFill>
                <a:latin typeface="Arial"/>
                <a:ea typeface="Arial"/>
                <a:cs typeface="Arial"/>
              </a:defRPr>
            </a:pPr>
            <a:r>
              <a:rPr sz="1650" b="0">
                <a:solidFill>
                  <a:srgbClr val="DCE9EB"/>
                </a:solidFill>
                <a:latin typeface="Arial"/>
                <a:ea typeface="Arial"/>
                <a:cs typeface="Arial"/>
              </a:rPr>
              <a:t>Stand 11. September 2026</a:t>
            </a:r>
          </a:p>
        </p:txBody>
      </p:sp>
    </p:spTree>
    <p:extLst>
      <p:ext uri="{BB962C8B-B14F-4D97-AF65-F5344CB8AC3E}">
        <p14:creationId xmlns:p14="http://schemas.microsoft.com/office/powerpoint/2010/main" val="15078974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D9D47B-6F9E-4FBF-AF37-EDCCBE375D08}"/>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Entscheidung über einen begrenzten Pilot</a:t>
            </a:r>
          </a:p>
        </p:txBody>
      </p:sp>
      <p:sp>
        <p:nvSpPr>
          <p:cNvPr id="2" name="">
            <a:extLst xmlns:a="http://schemas.openxmlformats.org/drawingml/2006/main">
              <a:ext uri="{FF2B5EF4-FFF2-40B4-BE49-F238E27FC236}">
                <a16:creationId xmlns:a16="http://schemas.microsoft.com/office/drawing/2014/main" id="{E7F43D77-A442-41BC-B90A-322673E3C1F8}"/>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Ein bis zwei Anwendungen, vorgeschlagen zwei Wochen</a:t>
            </a:r>
          </a:p>
        </p:txBody>
      </p:sp>
      <p:sp>
        <p:nvSpPr>
          <p:cNvPr id="3" name="">
            <a:extLst xmlns:a="http://schemas.openxmlformats.org/drawingml/2006/main">
              <a:ext uri="{FF2B5EF4-FFF2-40B4-BE49-F238E27FC236}">
                <a16:creationId xmlns:a16="http://schemas.microsoft.com/office/drawing/2014/main" id="{245DEA5F-4372-4BC3-BFFE-56D33DB538EB}"/>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Startvoraussetzung</a:t>
            </a:r>
          </a:p>
        </p:txBody>
      </p:sp>
      <p:sp>
        <p:nvSpPr>
          <p:cNvPr id="4" name="">
            <a:extLst xmlns:a="http://schemas.openxmlformats.org/drawingml/2006/main">
              <a:ext uri="{FF2B5EF4-FFF2-40B4-BE49-F238E27FC236}">
                <a16:creationId xmlns:a16="http://schemas.microsoft.com/office/drawing/2014/main" id="{52A9CD46-CD2C-45DC-87BE-AD10B1C14E01}"/>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Benannte Verantwortliche, aktuelle Nachweise und eingeplante Kapazität</a:t>
            </a:r>
          </a:p>
        </p:txBody>
      </p:sp>
      <p:sp>
        <p:nvSpPr>
          <p:cNvPr id="5" name="">
            <a:extLst xmlns:a="http://schemas.openxmlformats.org/drawingml/2006/main">
              <a:ext uri="{FF2B5EF4-FFF2-40B4-BE49-F238E27FC236}">
                <a16:creationId xmlns:a16="http://schemas.microsoft.com/office/drawing/2014/main" id="{081AE785-7ED6-4E83-ADF9-C5CFCA78FC74}"/>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Betriebsmodus</a:t>
            </a:r>
          </a:p>
        </p:txBody>
      </p:sp>
      <p:sp>
        <p:nvSpPr>
          <p:cNvPr id="6" name="">
            <a:extLst xmlns:a="http://schemas.openxmlformats.org/drawingml/2006/main">
              <a:ext uri="{FF2B5EF4-FFF2-40B4-BE49-F238E27FC236}">
                <a16:creationId xmlns:a16="http://schemas.microsoft.com/office/drawing/2014/main" id="{14266F4A-E38B-4E5D-966F-30E3D2A97DE6}"/>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Befunde sichtbar machen, neue Piloten ausdrücklich Report-only</a:t>
            </a:r>
          </a:p>
        </p:txBody>
      </p:sp>
      <p:sp>
        <p:nvSpPr>
          <p:cNvPr id="7" name="">
            <a:extLst xmlns:a="http://schemas.openxmlformats.org/drawingml/2006/main">
              <a:ext uri="{FF2B5EF4-FFF2-40B4-BE49-F238E27FC236}">
                <a16:creationId xmlns:a16="http://schemas.microsoft.com/office/drawing/2014/main" id="{393939C9-C1B4-48A3-BFC9-99FC1488FD7D}"/>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Abschluss</a:t>
            </a:r>
          </a:p>
        </p:txBody>
      </p:sp>
      <p:sp>
        <p:nvSpPr>
          <p:cNvPr id="8" name="">
            <a:extLst xmlns:a="http://schemas.openxmlformats.org/drawingml/2006/main">
              <a:ext uri="{FF2B5EF4-FFF2-40B4-BE49-F238E27FC236}">
                <a16:creationId xmlns:a16="http://schemas.microsoft.com/office/drawing/2014/main" id="{3B27C6FA-4B55-4A97-8FB0-60A2B362C92D}"/>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Beobachteten Nutzen, Aufwand und Risiken gemeinsam bewerten</a:t>
            </a:r>
          </a:p>
        </p:txBody>
      </p:sp>
      <p:sp>
        <p:nvSpPr>
          <p:cNvPr id="9" name="">
            <a:extLst xmlns:a="http://schemas.openxmlformats.org/drawingml/2006/main">
              <a:ext uri="{FF2B5EF4-FFF2-40B4-BE49-F238E27FC236}">
                <a16:creationId xmlns:a16="http://schemas.microsoft.com/office/drawing/2014/main" id="{13F9BA3C-1032-4BC6-AA3B-EDF916292DFB}"/>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2 / 12</a:t>
            </a:r>
          </a:p>
        </p:txBody>
      </p:sp>
    </p:spTree>
    <p:extLst>
      <p:ext uri="{BB962C8B-B14F-4D97-AF65-F5344CB8AC3E}">
        <p14:creationId xmlns:p14="http://schemas.microsoft.com/office/powerpoint/2010/main" val="2856772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83D3632-3588-4640-8254-62BF3131CFF3}"/>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Geschäftlicher Ausgangspunkt</a:t>
            </a:r>
          </a:p>
        </p:txBody>
      </p:sp>
      <p:sp>
        <p:nvSpPr>
          <p:cNvPr id="2" name="">
            <a:extLst xmlns:a="http://schemas.openxmlformats.org/drawingml/2006/main">
              <a:ext uri="{FF2B5EF4-FFF2-40B4-BE49-F238E27FC236}">
                <a16:creationId xmlns:a16="http://schemas.microsoft.com/office/drawing/2014/main" id="{058AD236-0BAB-4CC6-879E-E904E65BC3B6}"/>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Softwareentscheidungen brauchen nachvollziehbare Nachweise</a:t>
            </a:r>
          </a:p>
        </p:txBody>
      </p:sp>
      <p:sp>
        <p:nvSpPr>
          <p:cNvPr id="3" name="">
            <a:extLst xmlns:a="http://schemas.openxmlformats.org/drawingml/2006/main">
              <a:ext uri="{FF2B5EF4-FFF2-40B4-BE49-F238E27FC236}">
                <a16:creationId xmlns:a16="http://schemas.microsoft.com/office/drawing/2014/main" id="{D49D89FC-BC8C-4F64-99B4-F9923FB48D54}"/>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Geltende Vorgaben</a:t>
            </a:r>
          </a:p>
        </p:txBody>
      </p:sp>
      <p:sp>
        <p:nvSpPr>
          <p:cNvPr id="4" name="">
            <a:extLst xmlns:a="http://schemas.openxmlformats.org/drawingml/2006/main">
              <a:ext uri="{FF2B5EF4-FFF2-40B4-BE49-F238E27FC236}">
                <a16:creationId xmlns:a16="http://schemas.microsoft.com/office/drawing/2014/main" id="{A945137B-9AA6-485B-9E4F-36D570331E09}"/>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Welcher Regelsatz gilt für diese Softwareversion?</a:t>
            </a:r>
          </a:p>
        </p:txBody>
      </p:sp>
      <p:sp>
        <p:nvSpPr>
          <p:cNvPr id="5" name="">
            <a:extLst xmlns:a="http://schemas.openxmlformats.org/drawingml/2006/main">
              <a:ext uri="{FF2B5EF4-FFF2-40B4-BE49-F238E27FC236}">
                <a16:creationId xmlns:a16="http://schemas.microsoft.com/office/drawing/2014/main" id="{7F21602A-7BF8-461C-B4ED-FB3DBBB3DDBA}"/>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Belegbare Ergebnisse</a:t>
            </a:r>
          </a:p>
        </p:txBody>
      </p:sp>
      <p:sp>
        <p:nvSpPr>
          <p:cNvPr id="6" name="">
            <a:extLst xmlns:a="http://schemas.openxmlformats.org/drawingml/2006/main">
              <a:ext uri="{FF2B5EF4-FFF2-40B4-BE49-F238E27FC236}">
                <a16:creationId xmlns:a16="http://schemas.microsoft.com/office/drawing/2014/main" id="{96590219-4A3B-4D28-8180-A7FB8176EBBD}"/>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Welche Prüfung stützt die Entscheidung und wie aktuell ist sie?</a:t>
            </a:r>
          </a:p>
        </p:txBody>
      </p:sp>
      <p:sp>
        <p:nvSpPr>
          <p:cNvPr id="7" name="">
            <a:extLst xmlns:a="http://schemas.openxmlformats.org/drawingml/2006/main">
              <a:ext uri="{FF2B5EF4-FFF2-40B4-BE49-F238E27FC236}">
                <a16:creationId xmlns:a16="http://schemas.microsoft.com/office/drawing/2014/main" id="{FBFC5017-BEEF-4028-B0FE-7FBDE96C9359}"/>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Offene Verantwortung</a:t>
            </a:r>
          </a:p>
        </p:txBody>
      </p:sp>
      <p:sp>
        <p:nvSpPr>
          <p:cNvPr id="8" name="">
            <a:extLst xmlns:a="http://schemas.openxmlformats.org/drawingml/2006/main">
              <a:ext uri="{FF2B5EF4-FFF2-40B4-BE49-F238E27FC236}">
                <a16:creationId xmlns:a16="http://schemas.microsoft.com/office/drawing/2014/main" id="{C7CE00FA-17AF-41BF-9A48-6BA8CEF31E62}"/>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Wer bearbeitet Abweichungen und entscheidet über Ausnahmen?</a:t>
            </a:r>
          </a:p>
        </p:txBody>
      </p:sp>
      <p:sp>
        <p:nvSpPr>
          <p:cNvPr id="9" name="">
            <a:extLst xmlns:a="http://schemas.openxmlformats.org/drawingml/2006/main">
              <a:ext uri="{FF2B5EF4-FFF2-40B4-BE49-F238E27FC236}">
                <a16:creationId xmlns:a16="http://schemas.microsoft.com/office/drawing/2014/main" id="{56A2D7CC-2E8A-44AA-AD45-46C3227A0BC7}"/>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3 / 12</a:t>
            </a:r>
          </a:p>
        </p:txBody>
      </p:sp>
    </p:spTree>
    <p:extLst>
      <p:ext uri="{BB962C8B-B14F-4D97-AF65-F5344CB8AC3E}">
        <p14:creationId xmlns:p14="http://schemas.microsoft.com/office/powerpoint/2010/main" val="131957633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BA965D5-B9CF-48B1-AD59-432E908B5B3B}"/>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Erwarteter Nutzen und Messung</a:t>
            </a:r>
          </a:p>
        </p:txBody>
      </p:sp>
      <p:sp>
        <p:nvSpPr>
          <p:cNvPr id="2" name="">
            <a:extLst xmlns:a="http://schemas.openxmlformats.org/drawingml/2006/main">
              <a:ext uri="{FF2B5EF4-FFF2-40B4-BE49-F238E27FC236}">
                <a16:creationId xmlns:a16="http://schemas.microsoft.com/office/drawing/2014/main" id="{0DF714D7-0113-4A7A-8AC0-86563234A506}"/>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Der Pilot prüft den Nutzen statt Einsparungen vorauszusetzen</a:t>
            </a:r>
          </a:p>
        </p:txBody>
      </p:sp>
      <p:graphicFrame>
        <p:nvGraphicFramePr>
          <p:cNvPr id="7" name=""/>
          <p:cNvGraphicFramePr/>
          <p:nvPr/>
        </p:nvGraphicFramePr>
        <p:xfrm>
          <a:off xmlns:a="http://schemas.openxmlformats.org/drawingml/2006/main" x="742950" y="2343150"/>
          <a:ext xmlns:a="http://schemas.openxmlformats.org/drawingml/2006/main" cx="10706100" cy="3143250"/>
        </p:xfrm>
        <a:graphic xmlns:a="http://schemas.openxmlformats.org/drawingml/2006/main">
          <a:graphicData uri="http://schemas.openxmlformats.org/drawingml/2006/table">
            <a:tbl>
              <a:tblPr firstRow="1" bandRow="0"/>
              <a:tblGrid>
                <a:gridCol w="3905250"/>
                <a:gridCol w="6800850"/>
              </a:tblGrid>
              <a:tr h="552450">
                <a:tc>
                  <a:txBody>
                    <a:bodyPr lIns="152400" tIns="95250" rIns="152400" bIns="95250">
                      <a:noAutofit/>
                    </a:bodyPr>
                    <a:lstStyle/>
                    <a:p>
                      <a:r>
                        <a:rPr sz="1800" b="1">
                          <a:solidFill>
                            <a:srgbClr val="FFFFFF"/>
                          </a:solidFill>
                          <a:latin typeface="Arial"/>
                          <a:ea typeface="Arial"/>
                          <a:cs typeface="Arial"/>
                        </a:rPr>
                        <a:t>Nutzenhypothese</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Beobachtung</a:t>
                      </a:r>
                    </a:p>
                  </a:txBody>
                  <a:tcPr marL="91440" marR="91440" marT="45720" marB="45720" anchor="ctr">
                    <a:solidFill>
                      <a:srgbClr val="16394A"/>
                    </a:solidFill>
                  </a:tcPr>
                </a:tc>
              </a:tr>
              <a:tr h="666750">
                <a:tc>
                  <a:txBody>
                    <a:bodyPr lIns="152400" tIns="95250" rIns="152400" bIns="95250">
                      <a:noAutofit/>
                    </a:bodyPr>
                    <a:lstStyle/>
                    <a:p>
                      <a:r>
                        <a:rPr sz="1800" b="0">
                          <a:solidFill>
                            <a:srgbClr val="182F3B"/>
                          </a:solidFill>
                          <a:latin typeface="Arial"/>
                          <a:ea typeface="Arial"/>
                          <a:cs typeface="Arial"/>
                        </a:rPr>
                        <a:t>Weniger Nachweisaufwand</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Zeit für ein vergleichbares Nachweispaket</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Weniger Rückfragen</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Ursachen fachlicher Nachforderungen</a:t>
                      </a:r>
                    </a:p>
                  </a:txBody>
                  <a:tcPr marL="91440" marR="91440" marT="45720" marB="45720" anchor="ctr">
                    <a:solidFill>
                      <a:srgbClr val="F0F4F5"/>
                    </a:solidFill>
                  </a:tcPr>
                </a:tc>
              </a:tr>
              <a:tr h="666750">
                <a:tc>
                  <a:txBody>
                    <a:bodyPr lIns="152400" tIns="95250" rIns="152400" bIns="95250">
                      <a:noAutofit/>
                    </a:bodyPr>
                    <a:lstStyle/>
                    <a:p>
                      <a:r>
                        <a:rPr sz="1800" b="0">
                          <a:solidFill>
                            <a:srgbClr val="182F3B"/>
                          </a:solidFill>
                          <a:latin typeface="Arial"/>
                          <a:ea typeface="Arial"/>
                          <a:cs typeface="Arial"/>
                        </a:rPr>
                        <a:t>Klarere Bearbeitung</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Zeit bis zur Zuordnung offener Befunde</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Tragfähiger Betrieb</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Pflegeaufwand und ungeklärte Fehler</a:t>
                      </a:r>
                    </a:p>
                  </a:txBody>
                  <a:tcPr marL="91440" marR="91440" marT="45720" marB="45720" anchor="ctr">
                    <a:solidFill>
                      <a:srgbClr val="F0F4F5"/>
                    </a:solidFill>
                  </a:tcPr>
                </a:tc>
              </a:tr>
            </a:tbl>
          </a:graphicData>
        </a:graphic>
      </p:graphicFrame>
      <p:sp>
        <p:nvSpPr>
          <p:cNvPr id="4" name="">
            <a:extLst xmlns:a="http://schemas.openxmlformats.org/drawingml/2006/main">
              <a:ext uri="{FF2B5EF4-FFF2-40B4-BE49-F238E27FC236}">
                <a16:creationId xmlns:a16="http://schemas.microsoft.com/office/drawing/2014/main" id="{00C8B0F3-ABB0-40CD-B66E-8BDD7EE2EFDC}"/>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4 / 12</a:t>
            </a:r>
          </a:p>
        </p:txBody>
      </p:sp>
    </p:spTree>
    <p:extLst>
      <p:ext uri="{BB962C8B-B14F-4D97-AF65-F5344CB8AC3E}">
        <p14:creationId xmlns:p14="http://schemas.microsoft.com/office/powerpoint/2010/main" val="4591038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9792635-BB1C-40E7-9E0D-FFFCB9856625}"/>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Funktionsweise im Überblick</a:t>
            </a:r>
          </a:p>
        </p:txBody>
      </p:sp>
      <p:sp>
        <p:nvSpPr>
          <p:cNvPr id="2" name="">
            <a:extLst xmlns:a="http://schemas.openxmlformats.org/drawingml/2006/main">
              <a:ext uri="{FF2B5EF4-FFF2-40B4-BE49-F238E27FC236}">
                <a16:creationId xmlns:a16="http://schemas.microsoft.com/office/drawing/2014/main" id="{1E9D3FDD-B7F2-4F49-AA25-6D1C731ED03B}"/>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Anwendungsteams liefern Nachweise, die Zentrale prüft und bündelt</a:t>
            </a:r>
          </a:p>
        </p:txBody>
      </p:sp>
      <p:graphicFrame>
        <p:nvGraphicFramePr>
          <p:cNvPr id="7" name=""/>
          <p:cNvGraphicFramePr/>
          <p:nvPr/>
        </p:nvGraphicFramePr>
        <p:xfrm>
          <a:off xmlns:a="http://schemas.openxmlformats.org/drawingml/2006/main" x="742950" y="2343150"/>
          <a:ext xmlns:a="http://schemas.openxmlformats.org/drawingml/2006/main" cx="10706100" cy="3143250"/>
        </p:xfrm>
        <a:graphic xmlns:a="http://schemas.openxmlformats.org/drawingml/2006/main">
          <a:graphicData uri="http://schemas.openxmlformats.org/drawingml/2006/table">
            <a:tbl>
              <a:tblPr firstRow="1" bandRow="0"/>
              <a:tblGrid>
                <a:gridCol w="3905250"/>
                <a:gridCol w="6800850"/>
              </a:tblGrid>
              <a:tr h="552450">
                <a:tc>
                  <a:txBody>
                    <a:bodyPr lIns="152400" tIns="95250" rIns="152400" bIns="95250">
                      <a:noAutofit/>
                    </a:bodyPr>
                    <a:lstStyle/>
                    <a:p>
                      <a:r>
                        <a:rPr sz="1800" b="1">
                          <a:solidFill>
                            <a:srgbClr val="FFFFFF"/>
                          </a:solidFill>
                          <a:latin typeface="Arial"/>
                          <a:ea typeface="Arial"/>
                          <a:cs typeface="Arial"/>
                        </a:rPr>
                        <a:t>Ebene</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Aufgabe</a:t>
                      </a:r>
                    </a:p>
                  </a:txBody>
                  <a:tcPr marL="91440" marR="91440" marT="45720" marB="45720" anchor="ctr">
                    <a:solidFill>
                      <a:srgbClr val="16394A"/>
                    </a:solidFill>
                  </a:tcPr>
                </a:tc>
              </a:tr>
              <a:tr h="666750">
                <a:tc>
                  <a:txBody>
                    <a:bodyPr lIns="152400" tIns="95250" rIns="152400" bIns="95250">
                      <a:noAutofit/>
                    </a:bodyPr>
                    <a:lstStyle/>
                    <a:p>
                      <a:r>
                        <a:rPr sz="1800" b="0">
                          <a:solidFill>
                            <a:srgbClr val="182F3B"/>
                          </a:solidFill>
                          <a:latin typeface="Arial"/>
                          <a:ea typeface="Arial"/>
                          <a:cs typeface="Arial"/>
                        </a:rPr>
                        <a:t>Vorgaben</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Fachliche Eigentümer legen die Anforderungen fest</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Modell</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Kontrollen und erwartete Nachweise verbinden</a:t>
                      </a:r>
                    </a:p>
                  </a:txBody>
                  <a:tcPr marL="91440" marR="91440" marT="45720" marB="45720" anchor="ctr">
                    <a:solidFill>
                      <a:srgbClr val="F0F4F5"/>
                    </a:solidFill>
                  </a:tcPr>
                </a:tc>
              </a:tr>
              <a:tr h="666750">
                <a:tc>
                  <a:txBody>
                    <a:bodyPr lIns="152400" tIns="95250" rIns="152400" bIns="95250">
                      <a:noAutofit/>
                    </a:bodyPr>
                    <a:lstStyle/>
                    <a:p>
                      <a:r>
                        <a:rPr sz="1800" b="0">
                          <a:solidFill>
                            <a:srgbClr val="182F3B"/>
                          </a:solidFill>
                          <a:latin typeface="Arial"/>
                          <a:ea typeface="Arial"/>
                          <a:cs typeface="Arial"/>
                        </a:rPr>
                        <a:t>Auswertung</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Softwarestand gegen versionierte Regeln prüfen</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Berichte</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Nach Review Ergebnisse und offene Punkte anzeigen</a:t>
                      </a:r>
                    </a:p>
                  </a:txBody>
                  <a:tcPr marL="91440" marR="91440" marT="45720" marB="45720" anchor="ctr">
                    <a:solidFill>
                      <a:srgbClr val="F0F4F5"/>
                    </a:solidFill>
                  </a:tcPr>
                </a:tc>
              </a:tr>
            </a:tbl>
          </a:graphicData>
        </a:graphic>
      </p:graphicFrame>
      <p:sp>
        <p:nvSpPr>
          <p:cNvPr id="4" name="">
            <a:extLst xmlns:a="http://schemas.openxmlformats.org/drawingml/2006/main">
              <a:ext uri="{FF2B5EF4-FFF2-40B4-BE49-F238E27FC236}">
                <a16:creationId xmlns:a16="http://schemas.microsoft.com/office/drawing/2014/main" id="{4F2D33F2-4CF4-49FF-B7CB-C19687CDADCA}"/>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5 / 12</a:t>
            </a:r>
          </a:p>
        </p:txBody>
      </p:sp>
    </p:spTree>
    <p:extLst>
      <p:ext uri="{BB962C8B-B14F-4D97-AF65-F5344CB8AC3E}">
        <p14:creationId xmlns:p14="http://schemas.microsoft.com/office/powerpoint/2010/main" val="18062966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4FD5E2B-655D-4CB8-8EDC-DB48185DFC3E}"/>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Menschliche Verantwortung</a:t>
            </a:r>
          </a:p>
        </p:txBody>
      </p:sp>
      <p:sp>
        <p:nvSpPr>
          <p:cNvPr id="2" name="">
            <a:extLst xmlns:a="http://schemas.openxmlformats.org/drawingml/2006/main">
              <a:ext uri="{FF2B5EF4-FFF2-40B4-BE49-F238E27FC236}">
                <a16:creationId xmlns:a16="http://schemas.microsoft.com/office/drawing/2014/main" id="{0ED6AD85-F65A-4337-A50A-452ADF296B1D}"/>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Automatisierte Befunde unterstützen die Entscheidung</a:t>
            </a:r>
          </a:p>
        </p:txBody>
      </p:sp>
      <p:sp>
        <p:nvSpPr>
          <p:cNvPr id="3" name="">
            <a:extLst xmlns:a="http://schemas.openxmlformats.org/drawingml/2006/main">
              <a:ext uri="{FF2B5EF4-FFF2-40B4-BE49-F238E27FC236}">
                <a16:creationId xmlns:a16="http://schemas.microsoft.com/office/drawing/2014/main" id="{EF5BFD72-C72D-4385-BE0F-04242DD40BA9}"/>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Verantwortliche der Anwendung</a:t>
            </a:r>
          </a:p>
        </p:txBody>
      </p:sp>
      <p:sp>
        <p:nvSpPr>
          <p:cNvPr id="4" name="">
            <a:extLst xmlns:a="http://schemas.openxmlformats.org/drawingml/2006/main">
              <a:ext uri="{FF2B5EF4-FFF2-40B4-BE49-F238E27FC236}">
                <a16:creationId xmlns:a16="http://schemas.microsoft.com/office/drawing/2014/main" id="{AB1746AC-4E11-44BF-9E95-F479230B4E90}"/>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Verantworten die erzeugten Nachweise und die Behebung von Befunden</a:t>
            </a:r>
          </a:p>
        </p:txBody>
      </p:sp>
      <p:sp>
        <p:nvSpPr>
          <p:cNvPr id="5" name="">
            <a:extLst xmlns:a="http://schemas.openxmlformats.org/drawingml/2006/main">
              <a:ext uri="{FF2B5EF4-FFF2-40B4-BE49-F238E27FC236}">
                <a16:creationId xmlns:a16="http://schemas.microsoft.com/office/drawing/2014/main" id="{54959F88-F274-415B-9013-2746BE6DE4C7}"/>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Governance und Security</a:t>
            </a:r>
          </a:p>
        </p:txBody>
      </p:sp>
      <p:sp>
        <p:nvSpPr>
          <p:cNvPr id="6" name="">
            <a:extLst xmlns:a="http://schemas.openxmlformats.org/drawingml/2006/main">
              <a:ext uri="{FF2B5EF4-FFF2-40B4-BE49-F238E27FC236}">
                <a16:creationId xmlns:a16="http://schemas.microsoft.com/office/drawing/2014/main" id="{06424F38-D688-44BA-B0FD-5AFB93E946B6}"/>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Bewerten Regeln, Ausnahmen und fachliche Risiken</a:t>
            </a:r>
          </a:p>
        </p:txBody>
      </p:sp>
      <p:sp>
        <p:nvSpPr>
          <p:cNvPr id="7" name="">
            <a:extLst xmlns:a="http://schemas.openxmlformats.org/drawingml/2006/main">
              <a:ext uri="{FF2B5EF4-FFF2-40B4-BE49-F238E27FC236}">
                <a16:creationId xmlns:a16="http://schemas.microsoft.com/office/drawing/2014/main" id="{5581F2CD-9A06-4F98-B475-CD0AA75B5D21}"/>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Zentraler Betrieb</a:t>
            </a:r>
          </a:p>
        </p:txBody>
      </p:sp>
      <p:sp>
        <p:nvSpPr>
          <p:cNvPr id="8" name="">
            <a:extLst xmlns:a="http://schemas.openxmlformats.org/drawingml/2006/main">
              <a:ext uri="{FF2B5EF4-FFF2-40B4-BE49-F238E27FC236}">
                <a16:creationId xmlns:a16="http://schemas.microsoft.com/office/drawing/2014/main" id="{36AEB776-1F07-4A25-8D29-A4DA937391CB}"/>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Sichert Aufnahme, Review, Beobachtung und Wiederherstellung</a:t>
            </a:r>
          </a:p>
        </p:txBody>
      </p:sp>
      <p:sp>
        <p:nvSpPr>
          <p:cNvPr id="9" name="">
            <a:extLst xmlns:a="http://schemas.openxmlformats.org/drawingml/2006/main">
              <a:ext uri="{FF2B5EF4-FFF2-40B4-BE49-F238E27FC236}">
                <a16:creationId xmlns:a16="http://schemas.microsoft.com/office/drawing/2014/main" id="{CB856BFE-7120-4F31-9878-C4B7F06734A0}"/>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6 / 12</a:t>
            </a:r>
          </a:p>
        </p:txBody>
      </p:sp>
    </p:spTree>
    <p:extLst>
      <p:ext uri="{BB962C8B-B14F-4D97-AF65-F5344CB8AC3E}">
        <p14:creationId xmlns:p14="http://schemas.microsoft.com/office/powerpoint/2010/main" val="2871492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913DB3E-2FDE-404A-AD19-65D45133B8D4}"/>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Belegter Entwicklungsstand</a:t>
            </a:r>
          </a:p>
        </p:txBody>
      </p:sp>
      <p:sp>
        <p:nvSpPr>
          <p:cNvPr id="2" name="">
            <a:extLst xmlns:a="http://schemas.openxmlformats.org/drawingml/2006/main">
              <a:ext uri="{FF2B5EF4-FFF2-40B4-BE49-F238E27FC236}">
                <a16:creationId xmlns:a16="http://schemas.microsoft.com/office/drawing/2014/main" id="{34CFA06D-384B-4C24-A87B-D09240E5DA17}"/>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Die Referenzimplementierung ist vorhanden</a:t>
            </a:r>
          </a:p>
        </p:txBody>
      </p:sp>
      <p:graphicFrame>
        <p:nvGraphicFramePr>
          <p:cNvPr id="7" name=""/>
          <p:cNvGraphicFramePr/>
          <p:nvPr/>
        </p:nvGraphicFramePr>
        <p:xfrm>
          <a:off xmlns:a="http://schemas.openxmlformats.org/drawingml/2006/main" x="742950" y="2343150"/>
          <a:ext xmlns:a="http://schemas.openxmlformats.org/drawingml/2006/main" cx="10706100" cy="3143250"/>
        </p:xfrm>
        <a:graphic xmlns:a="http://schemas.openxmlformats.org/drawingml/2006/main">
          <a:graphicData uri="http://schemas.openxmlformats.org/drawingml/2006/table">
            <a:tbl>
              <a:tblPr firstRow="1" bandRow="0"/>
              <a:tblGrid>
                <a:gridCol w="3905250"/>
                <a:gridCol w="6800850"/>
              </a:tblGrid>
              <a:tr h="552450">
                <a:tc>
                  <a:txBody>
                    <a:bodyPr lIns="152400" tIns="95250" rIns="152400" bIns="95250">
                      <a:noAutofit/>
                    </a:bodyPr>
                    <a:lstStyle/>
                    <a:p>
                      <a:r>
                        <a:rPr sz="1800" b="1">
                          <a:solidFill>
                            <a:srgbClr val="FFFFFF"/>
                          </a:solidFill>
                          <a:latin typeface="Arial"/>
                          <a:ea typeface="Arial"/>
                          <a:cs typeface="Arial"/>
                        </a:rPr>
                        <a:t>Vorhanden</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Noch im Pilot zu belegen</a:t>
                      </a:r>
                    </a:p>
                  </a:txBody>
                  <a:tcPr marL="91440" marR="91440" marT="45720" marB="45720" anchor="ctr">
                    <a:solidFill>
                      <a:srgbClr val="16394A"/>
                    </a:solidFill>
                  </a:tcPr>
                </a:tc>
              </a:tr>
              <a:tr h="666750">
                <a:tc>
                  <a:txBody>
                    <a:bodyPr lIns="152400" tIns="95250" rIns="152400" bIns="95250">
                      <a:noAutofit/>
                    </a:bodyPr>
                    <a:lstStyle/>
                    <a:p>
                      <a:r>
                        <a:rPr sz="1800" b="0">
                          <a:solidFill>
                            <a:srgbClr val="182F3B"/>
                          </a:solidFill>
                          <a:latin typeface="Arial"/>
                          <a:ea typeface="Arial"/>
                          <a:cs typeface="Arial"/>
                        </a:rPr>
                        <a:t>Versionierte Regeln und Prüfungen</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Eignung für ausgewählte Anwendungen</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Aktuelle Ergebnisse für drei Consumer</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Wiederholbarkeit und Befundbearbeitung</a:t>
                      </a:r>
                    </a:p>
                  </a:txBody>
                  <a:tcPr marL="91440" marR="91440" marT="45720" marB="45720" anchor="ctr">
                    <a:solidFill>
                      <a:srgbClr val="F0F4F5"/>
                    </a:solidFill>
                  </a:tcPr>
                </a:tc>
              </a:tr>
              <a:tr h="666750">
                <a:tc>
                  <a:txBody>
                    <a:bodyPr lIns="152400" tIns="95250" rIns="152400" bIns="95250">
                      <a:noAutofit/>
                    </a:bodyPr>
                    <a:lstStyle/>
                    <a:p>
                      <a:r>
                        <a:rPr sz="1800" b="0">
                          <a:solidFill>
                            <a:srgbClr val="182F3B"/>
                          </a:solidFill>
                          <a:latin typeface="Arial"/>
                          <a:ea typeface="Arial"/>
                          <a:cs typeface="Arial"/>
                        </a:rPr>
                        <a:t>Betriebsbericht und Anleitungen</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Verlässliche Bearbeitung im Alltag</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Lokale Git-Wiederherstellung</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Vollständiger Wiederanlauf mit Zugängen</a:t>
                      </a:r>
                    </a:p>
                  </a:txBody>
                  <a:tcPr marL="91440" marR="91440" marT="45720" marB="45720" anchor="ctr">
                    <a:solidFill>
                      <a:srgbClr val="F0F4F5"/>
                    </a:solidFill>
                  </a:tcPr>
                </a:tc>
              </a:tr>
            </a:tbl>
          </a:graphicData>
        </a:graphic>
      </p:graphicFrame>
      <p:sp>
        <p:nvSpPr>
          <p:cNvPr id="4" name="">
            <a:extLst xmlns:a="http://schemas.openxmlformats.org/drawingml/2006/main">
              <a:ext uri="{FF2B5EF4-FFF2-40B4-BE49-F238E27FC236}">
                <a16:creationId xmlns:a16="http://schemas.microsoft.com/office/drawing/2014/main" id="{CA06327E-63FF-4963-97B9-10B37933D2FD}"/>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7 / 12</a:t>
            </a:r>
          </a:p>
        </p:txBody>
      </p:sp>
    </p:spTree>
    <p:extLst>
      <p:ext uri="{BB962C8B-B14F-4D97-AF65-F5344CB8AC3E}">
        <p14:creationId xmlns:p14="http://schemas.microsoft.com/office/powerpoint/2010/main" val="13292266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8EAEE-41D0-436C-BD7F-DEA2E3A1092D}"/>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Angenommene Anwendungsergebnisse</a:t>
            </a:r>
          </a:p>
        </p:txBody>
      </p:sp>
      <p:sp>
        <p:nvSpPr>
          <p:cNvPr id="2" name="">
            <a:extLst xmlns:a="http://schemas.openxmlformats.org/drawingml/2006/main">
              <a:ext uri="{FF2B5EF4-FFF2-40B4-BE49-F238E27FC236}">
                <a16:creationId xmlns:a16="http://schemas.microsoft.com/office/drawing/2014/main" id="{12FEADE7-6D16-4713-81A3-C41BB6E9239C}"/>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ha-CPsWMS am 11. September 2026</a:t>
            </a:r>
          </a:p>
        </p:txBody>
      </p:sp>
      <p:sp>
        <p:nvSpPr>
          <p:cNvPr id="3" name="">
            <a:extLst xmlns:a="http://schemas.openxmlformats.org/drawingml/2006/main">
              <a:ext uri="{FF2B5EF4-FFF2-40B4-BE49-F238E27FC236}">
                <a16:creationId xmlns:a16="http://schemas.microsoft.com/office/drawing/2014/main" id="{0AE53F7A-6DD6-4CEA-8BBD-D15AFFA86DF6}"/>
              </a:ext>
            </a:extLst>
          </p:cNvPr>
          <p:cNvSpPr>
            <a:spLocks xmlns:a="http://schemas.openxmlformats.org/drawingml/2006/main" noGrp="1"/>
          </p:cNvSpPr>
          <p:nvPr/>
        </p:nvSpPr>
        <p:spPr>
          <a:xfrm xmlns:a="http://schemas.openxmlformats.org/drawingml/2006/main">
            <a:off x="800100" y="2571750"/>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700" b="1">
                <a:solidFill>
                  <a:srgbClr val="176B74"/>
                </a:solidFill>
                <a:latin typeface="Arial"/>
                <a:ea typeface="Arial"/>
                <a:cs typeface="Arial"/>
              </a:defRPr>
            </a:pPr>
            <a:r>
              <a:rPr sz="5700" b="1">
                <a:solidFill>
                  <a:srgbClr val="176B74"/>
                </a:solidFill>
                <a:latin typeface="Arial"/>
                <a:ea typeface="Arial"/>
                <a:cs typeface="Arial"/>
              </a:rPr>
              <a:t>16 von 16</a:t>
            </a:r>
          </a:p>
        </p:txBody>
      </p:sp>
      <p:sp>
        <p:nvSpPr>
          <p:cNvPr id="4" name="">
            <a:extLst xmlns:a="http://schemas.openxmlformats.org/drawingml/2006/main">
              <a:ext uri="{FF2B5EF4-FFF2-40B4-BE49-F238E27FC236}">
                <a16:creationId xmlns:a16="http://schemas.microsoft.com/office/drawing/2014/main" id="{8D564778-B6BF-4CD4-8353-FA852E2740FE}"/>
              </a:ext>
            </a:extLst>
          </p:cNvPr>
          <p:cNvSpPr>
            <a:spLocks xmlns:a="http://schemas.openxmlformats.org/drawingml/2006/main" noGrp="1"/>
          </p:cNvSpPr>
          <p:nvPr/>
        </p:nvSpPr>
        <p:spPr>
          <a:xfrm xmlns:a="http://schemas.openxmlformats.org/drawingml/2006/main">
            <a:off x="838200" y="3924300"/>
            <a:ext cx="4810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Anwendbare DevSecOps-Kontrollen bestanden</a:t>
            </a:r>
          </a:p>
        </p:txBody>
      </p:sp>
      <p:sp>
        <p:nvSpPr>
          <p:cNvPr id="5" name="">
            <a:extLst xmlns:a="http://schemas.openxmlformats.org/drawingml/2006/main">
              <a:ext uri="{FF2B5EF4-FFF2-40B4-BE49-F238E27FC236}">
                <a16:creationId xmlns:a16="http://schemas.microsoft.com/office/drawing/2014/main" id="{D0461BD5-D449-48FB-8592-72BDE856B67B}"/>
              </a:ext>
            </a:extLst>
          </p:cNvPr>
          <p:cNvSpPr>
            <a:spLocks xmlns:a="http://schemas.openxmlformats.org/drawingml/2006/main" noGrp="1"/>
          </p:cNvSpPr>
          <p:nvPr/>
        </p:nvSpPr>
        <p:spPr>
          <a:xfrm xmlns:a="http://schemas.openxmlformats.org/drawingml/2006/main">
            <a:off x="6419850" y="2571750"/>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700" b="1">
                <a:solidFill>
                  <a:srgbClr val="176B74"/>
                </a:solidFill>
                <a:latin typeface="Arial"/>
                <a:ea typeface="Arial"/>
                <a:cs typeface="Arial"/>
              </a:defRPr>
            </a:pPr>
            <a:r>
              <a:rPr sz="5700" b="1">
                <a:solidFill>
                  <a:srgbClr val="176B74"/>
                </a:solidFill>
                <a:latin typeface="Arial"/>
                <a:ea typeface="Arial"/>
                <a:cs typeface="Arial"/>
              </a:rPr>
              <a:t>4 von 4</a:t>
            </a:r>
          </a:p>
        </p:txBody>
      </p:sp>
      <p:sp>
        <p:nvSpPr>
          <p:cNvPr id="6" name="">
            <a:extLst xmlns:a="http://schemas.openxmlformats.org/drawingml/2006/main">
              <a:ext uri="{FF2B5EF4-FFF2-40B4-BE49-F238E27FC236}">
                <a16:creationId xmlns:a16="http://schemas.microsoft.com/office/drawing/2014/main" id="{94E792FD-F003-43D2-BA37-35FE3FAA7998}"/>
              </a:ext>
            </a:extLst>
          </p:cNvPr>
          <p:cNvSpPr>
            <a:spLocks xmlns:a="http://schemas.openxmlformats.org/drawingml/2006/main" noGrp="1"/>
          </p:cNvSpPr>
          <p:nvPr/>
        </p:nvSpPr>
        <p:spPr>
          <a:xfrm xmlns:a="http://schemas.openxmlformats.org/drawingml/2006/main">
            <a:off x="6457950" y="3924300"/>
            <a:ext cx="4810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Architekturgates bestanden</a:t>
            </a:r>
          </a:p>
        </p:txBody>
      </p:sp>
      <p:sp>
        <p:nvSpPr>
          <p:cNvPr id="7" name="">
            <a:extLst xmlns:a="http://schemas.openxmlformats.org/drawingml/2006/main">
              <a:ext uri="{FF2B5EF4-FFF2-40B4-BE49-F238E27FC236}">
                <a16:creationId xmlns:a16="http://schemas.microsoft.com/office/drawing/2014/main" id="{F2AA9519-F6CC-41BE-A7A9-A8901EC5FEB0}"/>
              </a:ext>
            </a:extLst>
          </p:cNvPr>
          <p:cNvSpPr>
            <a:spLocks xmlns:a="http://schemas.openxmlformats.org/drawingml/2006/main" noGrp="1"/>
          </p:cNvSpPr>
          <p:nvPr/>
        </p:nvSpPr>
        <p:spPr>
          <a:xfrm xmlns:a="http://schemas.openxmlformats.org/drawingml/2006/main">
            <a:off x="819150" y="53530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526674"/>
                </a:solidFill>
                <a:latin typeface="Arial"/>
                <a:ea typeface="Arial"/>
                <a:cs typeface="Arial"/>
              </a:defRPr>
            </a:pPr>
            <a:r>
              <a:rPr sz="2025" b="0">
                <a:solidFill>
                  <a:srgbClr val="526674"/>
                </a:solidFill>
                <a:latin typeface="Arial"/>
                <a:ea typeface="Arial"/>
                <a:cs typeface="Arial"/>
              </a:rPr>
              <a:t>Separater Replay-Befund bleibt offen · keine Produktionsfreigabe</a:t>
            </a:r>
          </a:p>
        </p:txBody>
      </p:sp>
      <p:sp>
        <p:nvSpPr>
          <p:cNvPr id="8" name="">
            <a:extLst xmlns:a="http://schemas.openxmlformats.org/drawingml/2006/main">
              <a:ext uri="{FF2B5EF4-FFF2-40B4-BE49-F238E27FC236}">
                <a16:creationId xmlns:a16="http://schemas.microsoft.com/office/drawing/2014/main" id="{7B7A4223-9A82-4DD4-98C4-4C4D26BF5279}"/>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8 / 12</a:t>
            </a:r>
          </a:p>
        </p:txBody>
      </p:sp>
    </p:spTree>
    <p:extLst>
      <p:ext uri="{BB962C8B-B14F-4D97-AF65-F5344CB8AC3E}">
        <p14:creationId xmlns:p14="http://schemas.microsoft.com/office/powerpoint/2010/main" val="13234253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15884AA-11C2-4B5E-B9AA-D869C5CB89D6}"/>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Voraussetzungen für verbindliche Prüfungen</a:t>
            </a:r>
          </a:p>
        </p:txBody>
      </p:sp>
      <p:sp>
        <p:nvSpPr>
          <p:cNvPr id="2" name="">
            <a:extLst xmlns:a="http://schemas.openxmlformats.org/drawingml/2006/main">
              <a:ext uri="{FF2B5EF4-FFF2-40B4-BE49-F238E27FC236}">
                <a16:creationId xmlns:a16="http://schemas.microsoft.com/office/drawing/2014/main" id="{4CC5FB41-C9F0-4222-AC12-A8FD42627A77}"/>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Die gespeicherte Bewertung sieht keine der drei Integrationen bereit</a:t>
            </a:r>
          </a:p>
        </p:txBody>
      </p:sp>
      <p:sp>
        <p:nvSpPr>
          <p:cNvPr id="3" name="">
            <a:extLst xmlns:a="http://schemas.openxmlformats.org/drawingml/2006/main">
              <a:ext uri="{FF2B5EF4-FFF2-40B4-BE49-F238E27FC236}">
                <a16:creationId xmlns:a16="http://schemas.microsoft.com/office/drawing/2014/main" id="{CD1C77A3-35AC-4D91-8BAD-43377ED94866}"/>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Aktuelle Nachweise</a:t>
            </a:r>
          </a:p>
        </p:txBody>
      </p:sp>
      <p:sp>
        <p:nvSpPr>
          <p:cNvPr id="4" name="">
            <a:extLst xmlns:a="http://schemas.openxmlformats.org/drawingml/2006/main">
              <a:ext uri="{FF2B5EF4-FFF2-40B4-BE49-F238E27FC236}">
                <a16:creationId xmlns:a16="http://schemas.microsoft.com/office/drawing/2014/main" id="{5A16A96C-C5FD-44F9-85EB-6E3866DC4376}"/>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Herkunft, Integrität und ausreichende Beobachtung prüfen</a:t>
            </a:r>
          </a:p>
        </p:txBody>
      </p:sp>
      <p:sp>
        <p:nvSpPr>
          <p:cNvPr id="5" name="">
            <a:extLst xmlns:a="http://schemas.openxmlformats.org/drawingml/2006/main">
              <a:ext uri="{FF2B5EF4-FFF2-40B4-BE49-F238E27FC236}">
                <a16:creationId xmlns:a16="http://schemas.microsoft.com/office/drawing/2014/main" id="{28E0CABC-AA8D-4912-AEC7-AD33312B4CE1}"/>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Verantwortliche Freigabe</a:t>
            </a:r>
          </a:p>
        </p:txBody>
      </p:sp>
      <p:sp>
        <p:nvSpPr>
          <p:cNvPr id="6" name="">
            <a:extLst xmlns:a="http://schemas.openxmlformats.org/drawingml/2006/main">
              <a:ext uri="{FF2B5EF4-FFF2-40B4-BE49-F238E27FC236}">
                <a16:creationId xmlns:a16="http://schemas.microsoft.com/office/drawing/2014/main" id="{51A075EF-48D7-4E37-8323-85C1A128E12F}"/>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Ausnahmen und Rücknahmeweg vor einer Aktivierung festlegen</a:t>
            </a:r>
          </a:p>
        </p:txBody>
      </p:sp>
      <p:sp>
        <p:nvSpPr>
          <p:cNvPr id="7" name="">
            <a:extLst xmlns:a="http://schemas.openxmlformats.org/drawingml/2006/main">
              <a:ext uri="{FF2B5EF4-FFF2-40B4-BE49-F238E27FC236}">
                <a16:creationId xmlns:a16="http://schemas.microsoft.com/office/drawing/2014/main" id="{8A1865D9-4F48-40AD-BCEE-3113DD8311D4}"/>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Bestehendes Risiko</a:t>
            </a:r>
          </a:p>
        </p:txBody>
      </p:sp>
      <p:sp>
        <p:nvSpPr>
          <p:cNvPr id="8" name="">
            <a:extLst xmlns:a="http://schemas.openxmlformats.org/drawingml/2006/main">
              <a:ext uri="{FF2B5EF4-FFF2-40B4-BE49-F238E27FC236}">
                <a16:creationId xmlns:a16="http://schemas.microsoft.com/office/drawing/2014/main" id="{B3F1D4E1-0E6E-4207-8157-BA68BAE9D692}"/>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Älterer ha-CPsWMS-Modus mit Überprüfung bis 12. Dezember 2026</a:t>
            </a:r>
          </a:p>
        </p:txBody>
      </p:sp>
      <p:sp>
        <p:nvSpPr>
          <p:cNvPr id="9" name="">
            <a:extLst xmlns:a="http://schemas.openxmlformats.org/drawingml/2006/main">
              <a:ext uri="{FF2B5EF4-FFF2-40B4-BE49-F238E27FC236}">
                <a16:creationId xmlns:a16="http://schemas.microsoft.com/office/drawing/2014/main" id="{A1520056-F59A-4B47-986D-7F532249EA97}"/>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9 / 12</a:t>
            </a:r>
          </a:p>
        </p:txBody>
      </p:sp>
    </p:spTree>
    <p:extLst>
      <p:ext uri="{BB962C8B-B14F-4D97-AF65-F5344CB8AC3E}">
        <p14:creationId xmlns:p14="http://schemas.microsoft.com/office/powerpoint/2010/main" val="6514035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9BB5D69-9EF4-46FD-8602-F7C335761F64}"/>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Vorgeschlagener Ablauf</a:t>
            </a:r>
          </a:p>
        </p:txBody>
      </p:sp>
      <p:sp>
        <p:nvSpPr>
          <p:cNvPr id="2" name="">
            <a:extLst xmlns:a="http://schemas.openxmlformats.org/drawingml/2006/main">
              <a:ext uri="{FF2B5EF4-FFF2-40B4-BE49-F238E27FC236}">
                <a16:creationId xmlns:a16="http://schemas.microsoft.com/office/drawing/2014/main" id="{5AEE9972-474E-4E34-9883-7E44821810C5}"/>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Vorbereitung und zwei Wochen Beobachtung</a:t>
            </a:r>
          </a:p>
        </p:txBody>
      </p:sp>
      <p:graphicFrame>
        <p:nvGraphicFramePr>
          <p:cNvPr id="7" name=""/>
          <p:cNvGraphicFramePr/>
          <p:nvPr/>
        </p:nvGraphicFramePr>
        <p:xfrm>
          <a:off xmlns:a="http://schemas.openxmlformats.org/drawingml/2006/main" x="742950" y="2343150"/>
          <a:ext xmlns:a="http://schemas.openxmlformats.org/drawingml/2006/main" cx="10706100" cy="3143250"/>
        </p:xfrm>
        <a:graphic xmlns:a="http://schemas.openxmlformats.org/drawingml/2006/main">
          <a:graphicData uri="http://schemas.openxmlformats.org/drawingml/2006/table">
            <a:tbl>
              <a:tblPr firstRow="1" bandRow="0"/>
              <a:tblGrid>
                <a:gridCol w="3905250"/>
                <a:gridCol w="6800850"/>
              </a:tblGrid>
              <a:tr h="552450">
                <a:tc>
                  <a:txBody>
                    <a:bodyPr lIns="152400" tIns="95250" rIns="152400" bIns="95250">
                      <a:noAutofit/>
                    </a:bodyPr>
                    <a:lstStyle/>
                    <a:p>
                      <a:r>
                        <a:rPr sz="1800" b="1">
                          <a:solidFill>
                            <a:srgbClr val="FFFFFF"/>
                          </a:solidFill>
                          <a:latin typeface="Arial"/>
                          <a:ea typeface="Arial"/>
                          <a:cs typeface="Arial"/>
                        </a:rPr>
                        <a:t>Phase</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Ergebnis</a:t>
                      </a:r>
                    </a:p>
                  </a:txBody>
                  <a:tcPr marL="91440" marR="91440" marT="45720" marB="45720" anchor="ctr">
                    <a:solidFill>
                      <a:srgbClr val="16394A"/>
                    </a:solidFill>
                  </a:tcPr>
                </a:tc>
              </a:tr>
              <a:tr h="666750">
                <a:tc>
                  <a:txBody>
                    <a:bodyPr lIns="152400" tIns="95250" rIns="152400" bIns="95250">
                      <a:noAutofit/>
                    </a:bodyPr>
                    <a:lstStyle/>
                    <a:p>
                      <a:r>
                        <a:rPr sz="1800" b="0">
                          <a:solidFill>
                            <a:srgbClr val="182F3B"/>
                          </a:solidFill>
                          <a:latin typeface="Arial"/>
                          <a:ea typeface="Arial"/>
                          <a:cs typeface="Arial"/>
                        </a:rPr>
                        <a:t>Vorbereitung</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Umfang, Kapazität, Eigentümer und Zugänge stehen fest</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Woche 1</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Echte Nachweise durchlaufen Aufnahme und Review</a:t>
                      </a:r>
                    </a:p>
                  </a:txBody>
                  <a:tcPr marL="91440" marR="91440" marT="45720" marB="45720" anchor="ctr">
                    <a:solidFill>
                      <a:srgbClr val="F0F4F5"/>
                    </a:solidFill>
                  </a:tcPr>
                </a:tc>
              </a:tr>
              <a:tr h="666750">
                <a:tc>
                  <a:txBody>
                    <a:bodyPr lIns="152400" tIns="95250" rIns="152400" bIns="95250">
                      <a:noAutofit/>
                    </a:bodyPr>
                    <a:lstStyle/>
                    <a:p>
                      <a:r>
                        <a:rPr sz="1800" b="0">
                          <a:solidFill>
                            <a:srgbClr val="182F3B"/>
                          </a:solidFill>
                          <a:latin typeface="Arial"/>
                          <a:ea typeface="Arial"/>
                          <a:cs typeface="Arial"/>
                        </a:rPr>
                        <a:t>Woche 2</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Fehlerbehandlung, Wiederholung und Sicherung erprobt</a:t>
                      </a:r>
                    </a:p>
                  </a:txBody>
                  <a:tcPr marL="91440" marR="91440" marT="45720" marB="45720" anchor="ctr">
                    <a:solidFill>
                      <a:srgbClr val="FFFFFF"/>
                    </a:solidFill>
                  </a:tcPr>
                </a:tc>
              </a:tr>
              <a:tr h="666750">
                <a:tc>
                  <a:txBody>
                    <a:bodyPr lIns="152400" tIns="95250" rIns="152400" bIns="95250">
                      <a:noAutofit/>
                    </a:bodyPr>
                    <a:lstStyle/>
                    <a:p>
                      <a:r>
                        <a:rPr sz="1800" b="0">
                          <a:solidFill>
                            <a:srgbClr val="182F3B"/>
                          </a:solidFill>
                          <a:latin typeface="Arial"/>
                          <a:ea typeface="Arial"/>
                          <a:cs typeface="Arial"/>
                        </a:rPr>
                        <a:t>Entscheidung</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Fortsetzen, nacharbeiten oder beenden</a:t>
                      </a:r>
                    </a:p>
                  </a:txBody>
                  <a:tcPr marL="91440" marR="91440" marT="45720" marB="45720" anchor="ctr">
                    <a:solidFill>
                      <a:srgbClr val="F0F4F5"/>
                    </a:solidFill>
                  </a:tcPr>
                </a:tc>
              </a:tr>
            </a:tbl>
          </a:graphicData>
        </a:graphic>
      </p:graphicFrame>
      <p:sp>
        <p:nvSpPr>
          <p:cNvPr id="4" name="">
            <a:extLst xmlns:a="http://schemas.openxmlformats.org/drawingml/2006/main">
              <a:ext uri="{FF2B5EF4-FFF2-40B4-BE49-F238E27FC236}">
                <a16:creationId xmlns:a16="http://schemas.microsoft.com/office/drawing/2014/main" id="{BF5E20F9-CB6A-4BA8-8A8F-0D3BB166004F}"/>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10 / 12</a:t>
            </a:r>
          </a:p>
        </p:txBody>
      </p:sp>
    </p:spTree>
    <p:extLst>
      <p:ext uri="{BB962C8B-B14F-4D97-AF65-F5344CB8AC3E}">
        <p14:creationId xmlns:p14="http://schemas.microsoft.com/office/powerpoint/2010/main" val="4568276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DED7530-1ECD-412D-86C7-EC95D3014C16}"/>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Betriebsaufwand und Grenzen</a:t>
            </a:r>
          </a:p>
        </p:txBody>
      </p:sp>
      <p:sp>
        <p:nvSpPr>
          <p:cNvPr id="2" name="">
            <a:extLst xmlns:a="http://schemas.openxmlformats.org/drawingml/2006/main">
              <a:ext uri="{FF2B5EF4-FFF2-40B4-BE49-F238E27FC236}">
                <a16:creationId xmlns:a16="http://schemas.microsoft.com/office/drawing/2014/main" id="{0CE508AB-522B-4CBA-8752-F3BAB39AAE04}"/>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Der Nutzen setzt eine verbindliche Bearbeitung voraus</a:t>
            </a:r>
          </a:p>
        </p:txBody>
      </p:sp>
      <p:sp>
        <p:nvSpPr>
          <p:cNvPr id="3" name="">
            <a:extLst xmlns:a="http://schemas.openxmlformats.org/drawingml/2006/main">
              <a:ext uri="{FF2B5EF4-FFF2-40B4-BE49-F238E27FC236}">
                <a16:creationId xmlns:a16="http://schemas.microsoft.com/office/drawing/2014/main" id="{D722114C-9849-4176-AB8E-7A2F376AEC01}"/>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Aufwand</a:t>
            </a:r>
          </a:p>
        </p:txBody>
      </p:sp>
      <p:sp>
        <p:nvSpPr>
          <p:cNvPr id="4" name="">
            <a:extLst xmlns:a="http://schemas.openxmlformats.org/drawingml/2006/main">
              <a:ext uri="{FF2B5EF4-FFF2-40B4-BE49-F238E27FC236}">
                <a16:creationId xmlns:a16="http://schemas.microsoft.com/office/drawing/2014/main" id="{1B85A965-8DF0-4850-8868-2AFEB627C6F1}"/>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Integration, Nachweispflege, Reviews und Befundbearbeitung einplanen</a:t>
            </a:r>
          </a:p>
        </p:txBody>
      </p:sp>
      <p:sp>
        <p:nvSpPr>
          <p:cNvPr id="5" name="">
            <a:extLst xmlns:a="http://schemas.openxmlformats.org/drawingml/2006/main">
              <a:ext uri="{FF2B5EF4-FFF2-40B4-BE49-F238E27FC236}">
                <a16:creationId xmlns:a16="http://schemas.microsoft.com/office/drawing/2014/main" id="{8B735692-7A3A-41C7-B60F-1A1C0858484A}"/>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Beobachtung</a:t>
            </a:r>
          </a:p>
        </p:txBody>
      </p:sp>
      <p:sp>
        <p:nvSpPr>
          <p:cNvPr id="6" name="">
            <a:extLst xmlns:a="http://schemas.openxmlformats.org/drawingml/2006/main">
              <a:ext uri="{FF2B5EF4-FFF2-40B4-BE49-F238E27FC236}">
                <a16:creationId xmlns:a16="http://schemas.microsoft.com/office/drawing/2014/main" id="{6E893D09-70CC-4F87-AB05-F01F57941E6D}"/>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Täglicher Bericht vorhanden, automatische Alarmierung noch offen</a:t>
            </a:r>
          </a:p>
        </p:txBody>
      </p:sp>
      <p:sp>
        <p:nvSpPr>
          <p:cNvPr id="7" name="">
            <a:extLst xmlns:a="http://schemas.openxmlformats.org/drawingml/2006/main">
              <a:ext uri="{FF2B5EF4-FFF2-40B4-BE49-F238E27FC236}">
                <a16:creationId xmlns:a16="http://schemas.microsoft.com/office/drawing/2014/main" id="{C850DB90-6BA3-4414-AAEE-F786E1302EC5}"/>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Ausweitung</a:t>
            </a:r>
          </a:p>
        </p:txBody>
      </p:sp>
      <p:sp>
        <p:nvSpPr>
          <p:cNvPr id="8" name="">
            <a:extLst xmlns:a="http://schemas.openxmlformats.org/drawingml/2006/main">
              <a:ext uri="{FF2B5EF4-FFF2-40B4-BE49-F238E27FC236}">
                <a16:creationId xmlns:a16="http://schemas.microsoft.com/office/drawing/2014/main" id="{E9104884-22A0-4009-BA7B-B1F9ACB72BB7}"/>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Skalierung, Aufbewahrung und Wiederanlauf gesondert bewerten</a:t>
            </a:r>
          </a:p>
        </p:txBody>
      </p:sp>
      <p:sp>
        <p:nvSpPr>
          <p:cNvPr id="9" name="">
            <a:extLst xmlns:a="http://schemas.openxmlformats.org/drawingml/2006/main">
              <a:ext uri="{FF2B5EF4-FFF2-40B4-BE49-F238E27FC236}">
                <a16:creationId xmlns:a16="http://schemas.microsoft.com/office/drawing/2014/main" id="{19C79E85-8570-482E-A23D-A43649226ACD}"/>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11. September 2026     11 / 12</a:t>
            </a:r>
          </a:p>
        </p:txBody>
      </p:sp>
    </p:spTree>
    <p:extLst>
      <p:ext uri="{BB962C8B-B14F-4D97-AF65-F5344CB8AC3E}">
        <p14:creationId xmlns:p14="http://schemas.microsoft.com/office/powerpoint/2010/main" val="1198009076"/>
      </p:ext>
    </p:extLst>
  </p:cSld>
</p:sld>
</file>

<file path=ppt/slides/slide12.xml><?xml version="1.0" encoding="utf-8"?>
<p:sld xmlns:p="http://schemas.openxmlformats.org/presentationml/2006/main">
  <p:cSld>
    <p:bg>
      <p:bgPr>
        <a:solidFill xmlns:a="http://schemas.openxmlformats.org/drawingml/2006/main">
          <a:srgbClr val="16394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F389A7-0FCB-4367-89CC-366848DC8A26}"/>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Nächste Entscheidung</a:t>
            </a:r>
          </a:p>
        </p:txBody>
      </p:sp>
      <p:sp>
        <p:nvSpPr>
          <p:cNvPr id="2" name="">
            <a:extLst xmlns:a="http://schemas.openxmlformats.org/drawingml/2006/main">
              <a:ext uri="{FF2B5EF4-FFF2-40B4-BE49-F238E27FC236}">
                <a16:creationId xmlns:a16="http://schemas.microsoft.com/office/drawing/2014/main" id="{1216B7AD-9616-4929-A785-301BA8D9EEA0}"/>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B9DFDF"/>
                </a:solidFill>
                <a:latin typeface="Arial"/>
                <a:ea typeface="Arial"/>
                <a:cs typeface="Arial"/>
              </a:defRPr>
            </a:pPr>
            <a:r>
              <a:rPr sz="2175" b="0">
                <a:solidFill>
                  <a:srgbClr val="B9DFDF"/>
                </a:solidFill>
                <a:latin typeface="Arial"/>
                <a:ea typeface="Arial"/>
                <a:cs typeface="Arial"/>
              </a:rPr>
              <a:t>Kontrollierte Erprobung mit klarer Auswertung</a:t>
            </a:r>
          </a:p>
        </p:txBody>
      </p:sp>
      <p:sp>
        <p:nvSpPr>
          <p:cNvPr id="3" name="">
            <a:extLst xmlns:a="http://schemas.openxmlformats.org/drawingml/2006/main">
              <a:ext uri="{FF2B5EF4-FFF2-40B4-BE49-F238E27FC236}">
                <a16:creationId xmlns:a16="http://schemas.microsoft.com/office/drawing/2014/main" id="{82898AF7-1B6A-49EF-8515-350BDD227993}"/>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Festlegen</a:t>
            </a:r>
          </a:p>
        </p:txBody>
      </p:sp>
      <p:sp>
        <p:nvSpPr>
          <p:cNvPr id="4" name="">
            <a:extLst xmlns:a="http://schemas.openxmlformats.org/drawingml/2006/main">
              <a:ext uri="{FF2B5EF4-FFF2-40B4-BE49-F238E27FC236}">
                <a16:creationId xmlns:a16="http://schemas.microsoft.com/office/drawing/2014/main" id="{B01BF627-B5CA-478D-8DAE-461B758EACEE}"/>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Sponsor, Pilotanwendungen, Verantwortliche und verfügbare Kapazität</a:t>
            </a:r>
          </a:p>
        </p:txBody>
      </p:sp>
      <p:sp>
        <p:nvSpPr>
          <p:cNvPr id="5" name="">
            <a:extLst xmlns:a="http://schemas.openxmlformats.org/drawingml/2006/main">
              <a:ext uri="{FF2B5EF4-FFF2-40B4-BE49-F238E27FC236}">
                <a16:creationId xmlns:a16="http://schemas.microsoft.com/office/drawing/2014/main" id="{D766675E-7F72-4B61-B914-1CBD09E3AB3D}"/>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Erproben</a:t>
            </a:r>
          </a:p>
        </p:txBody>
      </p:sp>
      <p:sp>
        <p:nvSpPr>
          <p:cNvPr id="6" name="">
            <a:extLst xmlns:a="http://schemas.openxmlformats.org/drawingml/2006/main">
              <a:ext uri="{FF2B5EF4-FFF2-40B4-BE49-F238E27FC236}">
                <a16:creationId xmlns:a16="http://schemas.microsoft.com/office/drawing/2014/main" id="{C7C12F15-0A96-4296-ADA7-BD473F4D231E}"/>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Ergebnisfluss, tägliche Bearbeitung und Nutzenmessung</a:t>
            </a:r>
          </a:p>
        </p:txBody>
      </p:sp>
      <p:sp>
        <p:nvSpPr>
          <p:cNvPr id="7" name="">
            <a:extLst xmlns:a="http://schemas.openxmlformats.org/drawingml/2006/main">
              <a:ext uri="{FF2B5EF4-FFF2-40B4-BE49-F238E27FC236}">
                <a16:creationId xmlns:a16="http://schemas.microsoft.com/office/drawing/2014/main" id="{212E29A3-7272-42D0-8665-53AA9B784C01}"/>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Bewerten</a:t>
            </a:r>
          </a:p>
        </p:txBody>
      </p:sp>
      <p:sp>
        <p:nvSpPr>
          <p:cNvPr id="8" name="">
            <a:extLst xmlns:a="http://schemas.openxmlformats.org/drawingml/2006/main">
              <a:ext uri="{FF2B5EF4-FFF2-40B4-BE49-F238E27FC236}">
                <a16:creationId xmlns:a16="http://schemas.microsoft.com/office/drawing/2014/main" id="{035E77FC-5E1F-440B-9E7D-27B9843CC45D}"/>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Fortsetzung anhand dokumentierter Ergebnisse entscheiden</a:t>
            </a:r>
          </a:p>
        </p:txBody>
      </p:sp>
      <p:sp>
        <p:nvSpPr>
          <p:cNvPr id="9" name="">
            <a:extLst xmlns:a="http://schemas.openxmlformats.org/drawingml/2006/main">
              <a:ext uri="{FF2B5EF4-FFF2-40B4-BE49-F238E27FC236}">
                <a16:creationId xmlns:a16="http://schemas.microsoft.com/office/drawing/2014/main" id="{1DAACBE6-4026-46B9-991E-40FBCA75D549}"/>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DCE9EB"/>
                </a:solidFill>
                <a:latin typeface="Arial"/>
                <a:ea typeface="Arial"/>
                <a:cs typeface="Arial"/>
              </a:defRPr>
            </a:pPr>
            <a:r>
              <a:rPr sz="1200" b="0">
                <a:solidFill>
                  <a:srgbClr val="DCE9EB"/>
                </a:solidFill>
                <a:latin typeface="Arial"/>
                <a:ea typeface="Arial"/>
                <a:cs typeface="Arial"/>
              </a:rPr>
              <a:t>11. September 2026     12 / 12</a:t>
            </a:r>
          </a:p>
        </p:txBody>
      </p:sp>
    </p:spTree>
    <p:extLst>
      <p:ext uri="{BB962C8B-B14F-4D97-AF65-F5344CB8AC3E}">
        <p14:creationId xmlns:p14="http://schemas.microsoft.com/office/powerpoint/2010/main" val="2466917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2026-09-11T16:33:42.7230000Z</dcterms:created>
  <dcterms:modified xsi:type="dcterms:W3CDTF">2026-09-11T16:33:42.7230000Z</dcterms:modified>
</coreProperties>
</file>